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【0:15】开场：本次汇报围绕自动驾驶场景中的点云语义分割综述展开。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【0:55】这一页先说明为什么需要点云语义分割。3D 目标检测回答“物体在哪里”，输出的是目标框；语义分割进一步回答“每个点是什么”，能够获得道路、车辆、行人和植被的精确边界，为可行驶区域识别、避障和高精地图提供更密集的场景信息。与此同时，点云的不规则性和车载实时约束构成了核心挑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【0:50】强调任务输入输出，并说明无序、稀疏、小目标、实时性四个难点。体素分辨率展示了精度与开销的直接矛盾。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【0:45】快速交代投影、3D、混合三条路线，并指出研究重心正在转向多表示协同。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【0:40】自注意力不是一条独立的方法路线，而是一种通用的特征增强机制。它把每个点或特征映射为 Query、Key 和 Value，通过 Q 与 K 的点积计算相关性，再用 Softmax 得到权重，对 Value 加权求和。这样网络可以动态关注更有判别力的点和尺度，既捕获长距离依赖，也有助于小目标、多尺度和多分支特征融合。综述后文的 (AF)²-S3Net 就利用注意力权重融合不同尺度分支。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45】除了自注意力，论文还介绍了三类基础技术。首先，稀疏卷积只在非空体素上计算，子流形稀疏卷积进一步限制输出的激活位置，避免稀疏结构不断膨胀，因此它们是3D方法控制显存和推理成本的关键。其次，PointNet用逐点MLP和最大池化处理无序点集，PointNet++进一步聚合局部邻域，但邻域搜索会增加开销。最后，空洞卷积在保持分辨率的同时扩大感受野，有助于兼顾点级边界和全局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55】投影类方法把三维点云变成二维表示，从而利用成熟的二维网络。PolarNet采用极坐标网格，改善远近点密度不均；SalsaNext在距离图上使用不同膨胀率的空洞卷积，在保持分辨率的同时扩大感受野。它们的共同优势是速度快，但二维映射仍会损失三维几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1:00】3D方法直接保留三维几何。Cylinder3D使用圆柱体素适应LiDAR的密度分布；SPVC把PointNet式点分支与稀疏卷积体素分支结合，分别保留细节和扩大感受野。PointNet++通过局部邻域补足上下文，但邻域搜索会增加推理开销。DRINet++把体素视作超级点，进一步减少高成本逐点运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【0:55】混合方法通过多分支协同兼顾速度与精度。RPVNet 的关键是多阶段融合，而不是只在最后做一次拼接。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【0:45】用表格收束三类方法：投影快、3D 准、混合强调互补；选择路线必须结合硬件和实时约束。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【0:45】SemanticKITTI 和 nuScenes 是主要真实基准；SynLiDAR 提供大规模合成数据，但需要解决域差异。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【1:00】解释 mIoU，并结合表格看精度和延迟。重点不是绝对排名，而是投影、3D、混合路线之间的趋势。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【0:55】用四点收束全文：权衡、多表示融合、参数与延迟不等价、数据不足。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【0:10】点云分割正在从单一表示走向多表示、从单帧走向时序。谢谢大家，欢迎提问。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9B246-51E8-418C-95AE-7A2A362B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4C3303-6E3A-4FC7-9682-4FD57081B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2CDB3-6DCB-4EE5-8FC7-C2283DFF1D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7A52D-097E-43BE-A622-C44E92F713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E65DC-1584-4DF7-81B6-E6473D938A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0AEAE-3229-4F6A-9307-F4AA572F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B0934-8925-4991-AA4C-E44F88E19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619A0A-BBD1-4B51-AA85-C0ACD7A8E2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4523B-C7D9-409D-9D11-6E2177D7A6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FBB85-7CD9-4092-AC5D-7209DC6A49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063A4-C105-4B8E-A3C2-C3EB313F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CFDDC2-5CF4-4B37-9D82-D8D74D5F8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39E30D-6E87-4D8B-A9A8-AFABA775E6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F88B5-DA38-4AB8-A3C3-B749DBDE87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38B18E-BF73-4C35-BBEB-5C21931881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B5D19-7D64-4CD1-B504-AFE9DE5D3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FBFF8-2A4E-4978-9C0F-031787DD6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8F09B9-1365-4645-89B1-BE2414072F5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D81048-22F8-4126-A412-4BCEA0E67B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3831FC-BA5E-497D-836D-61D3F11452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ABE554-A1C0-4DCD-8BA5-4CD85A2B64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18421-5186-4AFD-9C4C-B0542BAC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F545F3-7F2D-4E6A-8F27-1C6253554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92F3B2-4A49-4302-AD5E-C9695799423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5326A2-1C1F-4408-8263-A42908E358C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D62F70-7618-4AF1-9359-6504F7D5DF0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1D25B6-B2EC-481B-81B2-EC17A8D570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93B038-5DBD-4D79-85CE-3BD3F071A8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318676-144E-4282-8B51-7A5B8205B0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3F845-FD6B-4DA1-8EEC-FC5DD056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34F519-90F8-4644-970D-1ED11C35C0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EA0691-783F-4425-9C7A-E373A7B991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275AA1-4629-4C33-96FD-0E74094675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5C1D9A-EB90-460A-81EA-38BB61E235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C75745-B89A-4F40-A2E1-949AB04C85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9A0AC0-AB1C-4FDF-A925-5A0A40D0C8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B7481-00DA-464D-B05B-D7DE09B4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C2D58A-08A0-43CB-B95F-602689035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755460-E09E-4E27-BB9F-1EFDCE7536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47DFA4-4481-41EA-8E08-90ADB45CAA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A61F5F-0776-4CB2-9E14-33102EC699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EF6CC0-B99E-4678-B3E4-45E74F0E2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F2B08-98A1-46D4-86A0-E1B82490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04B623-1F35-4308-8822-2534DA3B9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205E2E-D635-45BD-AB12-B0B041B875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B3F904-6CA9-4C33-8564-BA19EC5DA9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1FA96E-98EB-45CA-9DF5-1F9580BDC2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9FDDB7-C147-48D1-A542-D9D0207AB0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E6301-E68F-408F-925B-9BFA8ABF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422A13-5558-471E-9F83-00301761B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1B879-F62A-44E6-8D68-B90094A183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6A261-3343-4265-A3F4-B25790DF9C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33C9CD-816A-4659-9E8A-7D4D17E92E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76A46A9-7E83-42E0-8DE1-EA32061F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D3382-9058-4EA5-896B-57998E252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95743-A905-4734-A94C-3E9898FE8E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03224A-93FD-4221-9DFD-3C88DF9E20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5F9ABE-03F6-4D49-A167-2660F27086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426AC-7FF2-485B-95B5-277ED01E6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86951F-0D93-4187-8BC9-97EC1FF0B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25F3C8-9110-4C1B-95CD-6D292CB5D5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34200-BA3B-424E-B2CC-839C27E9A3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AF2401-40A1-4983-9027-18A4668E90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8FA7F-B5B5-480E-A2D1-2430C530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FCFB17-BEE2-48F1-8123-90448BB50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7DF16-93AB-42CB-82EE-B954963094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5FFE3-12A4-44BA-964A-F2D65392EC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4AAE9D-C0CB-40F9-84B1-6CE2FD2D53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F45AB-167F-4BC6-9FFB-CDC82052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5A2B19-00E3-4D0C-B96B-31FCAD784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6773D-0142-4534-A48B-7D506AB3B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BBDB0-E328-4F75-8376-84A05AB537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23DF76-29E4-441B-9638-9F9C3DC3C0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25851-7A99-4E10-B675-0BF8F77D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F9788-316B-49CF-899A-D5C2D86F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A84E4E-4AF5-461F-BCFC-1E5BAB2FF6B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631C64-EE6D-4C86-97E2-4401BFE138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8EADA7-694B-4BC6-8DB2-067572C129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BB9E2D-7BF2-44B8-9559-2DEA316B21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FD447-E61D-48C2-A18A-C9F68675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85C7EA-9126-4678-826F-6897FF27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6A70C7-2D22-4F58-8505-55CF19C6859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2402FA-F2DC-468A-B2CB-BD505D95CA9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261596-B4F8-44B5-95C2-615AA1E14D9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BD8B32-A634-4B95-AF23-B240D69DB4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91723F-F5BD-4533-AFD9-D57D65BFF6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EDE662-C489-475D-BED6-95FD31017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650E1-971C-428A-AF3B-E3A7599B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349CB3-E58C-4A97-92AC-E98565534A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D14B36-B0EC-4108-B764-201938CAC1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F31CB0-A1EC-4159-9D13-1BA06A4BCA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5D0E63-14EA-4C2B-AE1C-5A947BED81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688598-6EE7-48B6-B672-202DB947AE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B40D7-5C9E-4AC5-BD27-49266A7837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75CC0-0B8B-4B44-BB41-A8B137D6E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1C38E-2F4C-4778-8F95-5E5169A35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F9BE58-0A88-4B58-B674-F9B7562042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67529F-2455-466F-B11B-0836257DD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5D6603-284C-4D66-9A6C-9861378369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C7C6A6-122E-4CC2-B501-D9C50D1B0D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D0711-5411-44D1-9264-5017B3D60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55579B-14FE-48D6-978A-37874DDE1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52847F-5091-444F-A0AD-F6AB7CF7EB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A6C6A8-4123-4E1B-BD26-D492AA1C20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43DB48-3555-4EFE-8C34-B3CE1AA11F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91D583-173B-4EC0-B586-2F2C607FD2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A52B1-8F8C-4ED7-84D9-19EE5291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8A077-98E4-49AD-B816-54FF3810D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D5AF6-0F5B-45B0-A129-8216D23B5D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78E1-432B-4416-92B4-9CB9915F0A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E7C06-ABC6-43B9-B042-26D607FE72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DC1809-42D1-4F4F-9785-042592B4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B03CA3-2BD5-4EC8-B146-74E26AC9C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A4EA41-F04D-447E-A4E6-74EE35CF0D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621D0B-C777-451C-B70A-71C010DD0B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5FC39-D863-4A88-A2A7-499941C9B3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E9E32B5-07B2-4F1E-B467-F02C85D5B4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18A3BE-8702-483F-8EB2-1AF48810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F84018-7C90-4C16-89EF-08DB3D775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C79CE-E1C1-4E38-8953-F4B443C64DF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AB0EB-5F69-4A29-987F-97517B6F93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8A7BE-CCBD-49EB-99BF-9944702F21D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AF86DE-DEB9-4985-8F7F-CDD6D81D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D9947F-F1C4-4F2A-A09E-534E642F1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CF5B1-2E49-403A-8242-D8EEF4DD03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t>2026/7/10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0CC83-F92F-4C21-934F-EB05FB41590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E39047-7C65-4384-BAD8-8D181FE4A05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图片 23"/>
          <p:cNvPicPr>
            <a:picLocks noChangeAspect="1"/>
          </p:cNvPicPr>
          <p:nvPr/>
        </p:nvPicPr>
        <p:blipFill rotWithShape="1">
          <a:blip r:embed="rId4"/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FF3A9FB3-6DDB-423A-943C-86547618347F}"/>
              </a:ext>
            </a:extLst>
          </p:cNvPr>
          <p:cNvSpPr>
            <a:spLocks noGrp="1"/>
          </p:cNvSpPr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图片 100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4362874" y="-194569"/>
            <a:ext cx="3455246" cy="3455246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948DE9F5-0F2E-4983-803E-67CC0CA560C5}"/>
              </a:ext>
            </a:extLst>
          </p:cNvPr>
          <p:cNvSpPr>
            <a:spLocks noGrp="1"/>
          </p:cNvSpPr>
          <p:nvPr/>
        </p:nvSpPr>
        <p:spPr>
          <a:xfrm>
            <a:off x="1741101" y="2795450"/>
            <a:ext cx="869879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cap="none" dirty="0">
                <a:ln>
                  <a:noFill/>
                </a:ln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Point Cloud Based Scene Segmentation: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cap="none" dirty="0">
                <a:ln>
                  <a:noFill/>
                </a:ln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A Survey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u="none" cap="none" dirty="0" err="1">
                <a:ln>
                  <a:noFill/>
                </a:ln>
                <a:solidFill>
                  <a:srgbClr val="FFFFFF"/>
                </a:solidFill>
                <a:latin typeface="等线"/>
                <a:ea typeface="等线"/>
                <a:cs typeface="等线"/>
              </a:rPr>
              <a:t>点云语义分割综述</a:t>
            </a:r>
            <a:endParaRPr sz="4000" b="0" i="0" u="none" cap="none" dirty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直线连接符 77">
            <a:extLst>
              <a:ext uri="{FF2B5EF4-FFF2-40B4-BE49-F238E27FC236}">
                <a16:creationId xmlns:a16="http://schemas.microsoft.com/office/drawing/2014/main" id="{8DF1545C-A374-4342-B57D-9ABC855FE2B6}"/>
              </a:ext>
            </a:extLst>
          </p:cNvPr>
          <p:cNvSpPr>
            <a:spLocks noGrp="1"/>
          </p:cNvSpPr>
          <p:nvPr/>
        </p:nv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圆角矩形 190">
            <a:extLst>
              <a:ext uri="{FF2B5EF4-FFF2-40B4-BE49-F238E27FC236}">
                <a16:creationId xmlns:a16="http://schemas.microsoft.com/office/drawing/2014/main" id="{4CFD7E8A-9575-4880-B090-EF6C76CA2365}"/>
              </a:ext>
            </a:extLst>
          </p:cNvPr>
          <p:cNvSpPr>
            <a:spLocks noGrp="1"/>
          </p:cNvSpPr>
          <p:nvPr/>
        </p:nvSpPr>
        <p:spPr>
          <a:xfrm>
            <a:off x="4182432" y="5460729"/>
            <a:ext cx="3816132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汇报人：陈昊</a:t>
            </a:r>
          </a:p>
        </p:txBody>
      </p:sp>
      <p:sp>
        <p:nvSpPr>
          <p:cNvPr id="50" name="圆角矩形 192">
            <a:extLst>
              <a:ext uri="{FF2B5EF4-FFF2-40B4-BE49-F238E27FC236}">
                <a16:creationId xmlns:a16="http://schemas.microsoft.com/office/drawing/2014/main" id="{994387CC-92C0-4F65-AC1E-D8A6E28AE6B3}"/>
              </a:ext>
            </a:extLst>
          </p:cNvPr>
          <p:cNvSpPr>
            <a:spLocks noGrp="1"/>
          </p:cNvSpPr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圆角矩形 193">
            <a:extLst>
              <a:ext uri="{FF2B5EF4-FFF2-40B4-BE49-F238E27FC236}">
                <a16:creationId xmlns:a16="http://schemas.microsoft.com/office/drawing/2014/main" id="{BF35BDBA-6362-4672-B5EB-A889D8A38CEF}"/>
              </a:ext>
            </a:extLst>
          </p:cNvPr>
          <p:cNvSpPr>
            <a:spLocks noGrp="1"/>
          </p:cNvSpPr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副标题 2">
            <a:extLst>
              <a:ext uri="{FF2B5EF4-FFF2-40B4-BE49-F238E27FC236}">
                <a16:creationId xmlns:a16="http://schemas.microsoft.com/office/drawing/2014/main" id="{A1C50865-B078-4DBD-BE80-054404B00B7C}"/>
              </a:ext>
            </a:extLst>
          </p:cNvPr>
          <p:cNvSpPr>
            <a:spLocks noGrp="1"/>
          </p:cNvSpPr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600">
                <a:ln>
                  <a:noFill/>
                </a:ln>
                <a:solidFill>
                  <a:prstClr val="white"/>
                </a:solidFill>
                <a:latin typeface="方正小标宋简体"/>
                <a:ea typeface="方正小标宋简体"/>
                <a:cs typeface="方正小标宋简体"/>
              </a:rPr>
              <a:t>-  艰苦创业  开拓创新  争创一流  -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5BA7D6-FDAC-48AE-9AAB-C61D6C8E914E}"/>
              </a:ext>
            </a:extLst>
          </p:cNvPr>
          <p:cNvSpPr>
            <a:spLocks noGrp="1"/>
          </p:cNvSpPr>
          <p:nvPr/>
        </p:nvSpPr>
        <p:spPr>
          <a:xfrm>
            <a:off x="10506497" y="6215638"/>
            <a:ext cx="1374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dirty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2026.07</a:t>
            </a:r>
            <a:r>
              <a:rPr lang="en-US" dirty="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.</a:t>
            </a:r>
            <a:r>
              <a:rPr lang="en-US" altLang="zh-CN" dirty="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800" b="0" i="0" u="none" cap="none" dirty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8381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C8C265D-A4BF-ADF3-5BF6-6701511473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17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18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19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3CF4D0EC-8706-42EE-8D16-0FF628658DB9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19753F1E-0800-40A2-80CD-455420956E7E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9A80FF1-40C9-469F-95A9-91FFF6605EEC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34163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研究背景：方法转换</a:t>
            </a:r>
          </a:p>
        </p:txBody>
      </p:sp>
      <p:pic>
        <p:nvPicPr>
          <p:cNvPr id="12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24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2C581A1-9DA2-40A2-B579-403741B72940}"/>
              </a:ext>
            </a:extLst>
          </p:cNvPr>
          <p:cNvSpPr>
            <a:spLocks noGrp="1"/>
          </p:cNvSpPr>
          <p:nvPr/>
        </p:nvSpPr>
        <p:spPr>
          <a:xfrm>
            <a:off x="186690" y="890905"/>
            <a:ext cx="11533505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har char="Ø"/>
            </a:pPr>
            <a:endParaRPr/>
          </a:p>
        </p:txBody>
      </p:sp>
      <p:sp>
        <p:nvSpPr>
          <p:cNvPr id="95" name="background-kicker">
            <a:extLst>
              <a:ext uri="{FF2B5EF4-FFF2-40B4-BE49-F238E27FC236}">
                <a16:creationId xmlns:a16="http://schemas.microsoft.com/office/drawing/2014/main" id="{11A6C19A-305F-4773-A82C-679CD7526FB8}"/>
              </a:ext>
            </a:extLst>
          </p:cNvPr>
          <p:cNvSpPr>
            <a:spLocks noGrp="1"/>
          </p:cNvSpPr>
          <p:nvPr/>
        </p:nvSpPr>
        <p:spPr>
          <a:xfrm>
            <a:off x="523652" y="895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01 研究背景  |  从</a:t>
            </a:r>
            <a:r>
              <a:rPr sz="240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目标框</a:t>
            </a: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到</a:t>
            </a:r>
            <a:r>
              <a:rPr sz="240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逐点语义理解</a:t>
            </a:r>
          </a:p>
        </p:txBody>
      </p:sp>
      <p:sp>
        <p:nvSpPr>
          <p:cNvPr id="96" name="bg-headline">
            <a:extLst>
              <a:ext uri="{FF2B5EF4-FFF2-40B4-BE49-F238E27FC236}">
                <a16:creationId xmlns:a16="http://schemas.microsoft.com/office/drawing/2014/main" id="{90E539A0-9329-477E-92DD-A867CDBDC807}"/>
              </a:ext>
            </a:extLst>
          </p:cNvPr>
          <p:cNvSpPr>
            <a:spLocks noGrp="1"/>
          </p:cNvSpPr>
          <p:nvPr/>
        </p:nvSpPr>
        <p:spPr>
          <a:xfrm>
            <a:off x="552450" y="1640960"/>
            <a:ext cx="571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232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点云语义分割：为每一个 LiDAR 点赋予类别标签</a:t>
            </a:r>
          </a:p>
        </p:txBody>
      </p:sp>
      <p:sp>
        <p:nvSpPr>
          <p:cNvPr id="97" name="bg-bullets">
            <a:extLst>
              <a:ext uri="{FF2B5EF4-FFF2-40B4-BE49-F238E27FC236}">
                <a16:creationId xmlns:a16="http://schemas.microsoft.com/office/drawing/2014/main" id="{8BAFF3A5-45A3-4824-B803-4C963B140DD6}"/>
              </a:ext>
            </a:extLst>
          </p:cNvPr>
          <p:cNvSpPr>
            <a:spLocks noGrp="1"/>
          </p:cNvSpPr>
          <p:nvPr/>
        </p:nvSpPr>
        <p:spPr>
          <a:xfrm>
            <a:off x="619125" y="2552699"/>
            <a:ext cx="5333997" cy="25384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lnSpc>
                <a:spcPct val="115000"/>
              </a:lnSpc>
              <a:buNone/>
              <a:defRPr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相比</a:t>
            </a: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3D 目标检测的“框”，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语义分割提供更密集的场景信息</a:t>
            </a:r>
            <a:endParaRPr sz="20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5000"/>
              </a:lnSpc>
              <a:buNone/>
              <a:defRPr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相机在夜间和恶劣环境下表现差，而</a:t>
            </a:r>
            <a:r>
              <a:rPr sz="20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LiDAR 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在弱光与复杂天气下更稳健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，是自动驾驶的重要传感器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5000"/>
              </a:lnSpc>
              <a:buNone/>
              <a:defRPr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点云无序、稀疏且密度不均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，带来显存、计算与实时性压力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bg-takeaway">
            <a:extLst>
              <a:ext uri="{FF2B5EF4-FFF2-40B4-BE49-F238E27FC236}">
                <a16:creationId xmlns:a16="http://schemas.microsoft.com/office/drawing/2014/main" id="{8BFC4DB2-3E23-4792-BF96-14D1287AC973}"/>
              </a:ext>
            </a:extLst>
          </p:cNvPr>
          <p:cNvSpPr>
            <a:spLocks noGrp="1"/>
          </p:cNvSpPr>
          <p:nvPr/>
        </p:nvSpPr>
        <p:spPr>
          <a:xfrm>
            <a:off x="619125" y="5150362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87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核心矛盾：保留</a:t>
            </a:r>
            <a:r>
              <a:rPr sz="1875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3D </a:t>
            </a:r>
            <a:r>
              <a:rPr sz="1875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几何信息，同时满足车载实时推理</a:t>
            </a:r>
            <a:r>
              <a:rPr sz="1875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4" name="background-column-divider">
            <a:extLst>
              <a:ext uri="{FF2B5EF4-FFF2-40B4-BE49-F238E27FC236}">
                <a16:creationId xmlns:a16="http://schemas.microsoft.com/office/drawing/2014/main" id="{77192CFA-373E-414D-8DA9-EED5F05ED9C7}"/>
              </a:ext>
            </a:extLst>
          </p:cNvPr>
          <p:cNvSpPr>
            <a:spLocks noGrp="1"/>
          </p:cNvSpPr>
          <p:nvPr/>
        </p:nvSpPr>
        <p:spPr>
          <a:xfrm>
            <a:off x="6429375" y="1762125"/>
            <a:ext cx="0" cy="3810000"/>
          </a:xfrm>
          <a:prstGeom prst="line">
            <a:avLst/>
          </a:prstGeom>
          <a:noFill/>
          <a:ln w="19050">
            <a:solidFill>
              <a:srgbClr val="D7AE74"/>
            </a:solidFill>
            <a:prstDash val="solid"/>
          </a:ln>
        </p:spPr>
      </p:sp>
      <p:sp>
        <p:nvSpPr>
          <p:cNvPr id="105" name="background-compare-head">
            <a:extLst>
              <a:ext uri="{FF2B5EF4-FFF2-40B4-BE49-F238E27FC236}">
                <a16:creationId xmlns:a16="http://schemas.microsoft.com/office/drawing/2014/main" id="{1DF88A48-8318-4F35-AB9E-B8A0136EDB1B}"/>
              </a:ext>
            </a:extLst>
          </p:cNvPr>
          <p:cNvSpPr>
            <a:spLocks noGrp="1"/>
          </p:cNvSpPr>
          <p:nvPr/>
        </p:nvSpPr>
        <p:spPr>
          <a:xfrm>
            <a:off x="7191148" y="1606183"/>
            <a:ext cx="423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>
              <a:buNone/>
              <a:defRPr sz="210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从“目标框”到“逐点标签”</a:t>
            </a:r>
          </a:p>
        </p:txBody>
      </p:sp>
      <p:sp>
        <p:nvSpPr>
          <p:cNvPr id="106" name="background-detection-label">
            <a:extLst>
              <a:ext uri="{FF2B5EF4-FFF2-40B4-BE49-F238E27FC236}">
                <a16:creationId xmlns:a16="http://schemas.microsoft.com/office/drawing/2014/main" id="{09A4FC6E-86EE-48DF-89D3-817B4E6D51BA}"/>
              </a:ext>
            </a:extLst>
          </p:cNvPr>
          <p:cNvSpPr>
            <a:spLocks noGrp="1"/>
          </p:cNvSpPr>
          <p:nvPr/>
        </p:nvSpPr>
        <p:spPr>
          <a:xfrm>
            <a:off x="7162801" y="2549598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>
              <a:buNone/>
              <a:defRPr sz="180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3D 目标检测</a:t>
            </a:r>
          </a:p>
        </p:txBody>
      </p:sp>
      <p:sp>
        <p:nvSpPr>
          <p:cNvPr id="107" name="background-detection-copy">
            <a:extLst>
              <a:ext uri="{FF2B5EF4-FFF2-40B4-BE49-F238E27FC236}">
                <a16:creationId xmlns:a16="http://schemas.microsoft.com/office/drawing/2014/main" id="{96350767-8701-4D79-A76E-8E3FE618E33D}"/>
              </a:ext>
            </a:extLst>
          </p:cNvPr>
          <p:cNvSpPr>
            <a:spLocks noGrp="1"/>
          </p:cNvSpPr>
          <p:nvPr/>
        </p:nvSpPr>
        <p:spPr>
          <a:xfrm>
            <a:off x="8874417" y="2423778"/>
            <a:ext cx="2333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输出：目标框</a:t>
            </a: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回答：物体在哪里？</a:t>
            </a:r>
          </a:p>
        </p:txBody>
      </p:sp>
      <p:sp>
        <p:nvSpPr>
          <p:cNvPr id="108" name="background-transition">
            <a:extLst>
              <a:ext uri="{FF2B5EF4-FFF2-40B4-BE49-F238E27FC236}">
                <a16:creationId xmlns:a16="http://schemas.microsoft.com/office/drawing/2014/main" id="{B8CB1795-C4C5-415E-9B38-735D645372F2}"/>
              </a:ext>
            </a:extLst>
          </p:cNvPr>
          <p:cNvSpPr>
            <a:spLocks noGrp="1"/>
          </p:cNvSpPr>
          <p:nvPr/>
        </p:nvSpPr>
        <p:spPr>
          <a:xfrm>
            <a:off x="6978501" y="4486052"/>
            <a:ext cx="423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72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粗粒度定位   →   密集场景理解</a:t>
            </a:r>
          </a:p>
        </p:txBody>
      </p:sp>
      <p:sp>
        <p:nvSpPr>
          <p:cNvPr id="109" name="background-segmentation-label">
            <a:extLst>
              <a:ext uri="{FF2B5EF4-FFF2-40B4-BE49-F238E27FC236}">
                <a16:creationId xmlns:a16="http://schemas.microsoft.com/office/drawing/2014/main" id="{AA12DB39-8272-4D70-9656-F93D5711D60F}"/>
              </a:ext>
            </a:extLst>
          </p:cNvPr>
          <p:cNvSpPr>
            <a:spLocks noGrp="1"/>
          </p:cNvSpPr>
          <p:nvPr/>
        </p:nvSpPr>
        <p:spPr>
          <a:xfrm>
            <a:off x="7155710" y="3619723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>
              <a:buNone/>
              <a:defRPr sz="180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点云语义分割</a:t>
            </a:r>
          </a:p>
        </p:txBody>
      </p:sp>
      <p:sp>
        <p:nvSpPr>
          <p:cNvPr id="110" name="background-segmentation-copy">
            <a:extLst>
              <a:ext uri="{FF2B5EF4-FFF2-40B4-BE49-F238E27FC236}">
                <a16:creationId xmlns:a16="http://schemas.microsoft.com/office/drawing/2014/main" id="{6279B151-D9F7-4A73-8A38-8A3C535F3DD1}"/>
              </a:ext>
            </a:extLst>
          </p:cNvPr>
          <p:cNvSpPr>
            <a:spLocks noGrp="1"/>
          </p:cNvSpPr>
          <p:nvPr/>
        </p:nvSpPr>
        <p:spPr>
          <a:xfrm>
            <a:off x="8881509" y="3496123"/>
            <a:ext cx="266301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Autofit/>
          </a:bodyPr>
          <a:lstStyle/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输出：每个点的类别</a:t>
            </a: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回答：每个点是什么？</a:t>
            </a:r>
          </a:p>
        </p:txBody>
      </p:sp>
      <p:sp>
        <p:nvSpPr>
          <p:cNvPr id="111" name="background-value">
            <a:extLst>
              <a:ext uri="{FF2B5EF4-FFF2-40B4-BE49-F238E27FC236}">
                <a16:creationId xmlns:a16="http://schemas.microsoft.com/office/drawing/2014/main" id="{52135833-9291-49E4-AD65-29FCAE79E395}"/>
              </a:ext>
            </a:extLst>
          </p:cNvPr>
          <p:cNvSpPr>
            <a:spLocks noGrp="1"/>
          </p:cNvSpPr>
          <p:nvPr/>
        </p:nvSpPr>
        <p:spPr>
          <a:xfrm>
            <a:off x="7099000" y="5008598"/>
            <a:ext cx="4238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5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不仅知道“哪里有车”，还能够识别道路、车辆、行人与植被的精确边界。</a:t>
            </a:r>
          </a:p>
        </p:txBody>
      </p:sp>
    </p:spTree>
    <p:extLst>
      <p:ext uri="{BB962C8B-B14F-4D97-AF65-F5344CB8AC3E}">
        <p14:creationId xmlns:p14="http://schemas.microsoft.com/office/powerpoint/2010/main" val="178179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7EF015-2A3E-10A1-6B67-81FA30ECE8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7" name="图片 2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8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9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2219" y="6354349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6158D10A-0E79-4A23-A412-16DF07609405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1C8F69DD-60AB-40DB-AE1A-FADAA4278E7D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70EF63D-4FE6-405D-A803-34A8A35CBB6D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研究背景：任务与难点</a:t>
            </a:r>
          </a:p>
        </p:txBody>
      </p:sp>
      <p:pic>
        <p:nvPicPr>
          <p:cNvPr id="11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4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A99732-20F7-4A15-A0D2-1E121749EB9E}"/>
              </a:ext>
            </a:extLst>
          </p:cNvPr>
          <p:cNvSpPr>
            <a:spLocks noGrp="1"/>
          </p:cNvSpPr>
          <p:nvPr/>
        </p:nvSpPr>
        <p:spPr>
          <a:xfrm>
            <a:off x="186690" y="890905"/>
            <a:ext cx="9745345" cy="587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Char char="Ø"/>
            </a:pPr>
            <a:endParaRPr/>
          </a:p>
        </p:txBody>
      </p:sp>
      <p:sp>
        <p:nvSpPr>
          <p:cNvPr id="95" name="task-kicker">
            <a:extLst>
              <a:ext uri="{FF2B5EF4-FFF2-40B4-BE49-F238E27FC236}">
                <a16:creationId xmlns:a16="http://schemas.microsoft.com/office/drawing/2014/main" id="{5C1C687B-F1B2-4BF8-82BB-60A6323DCF1F}"/>
              </a:ext>
            </a:extLst>
          </p:cNvPr>
          <p:cNvSpPr>
            <a:spLocks noGrp="1"/>
          </p:cNvSpPr>
          <p:nvPr/>
        </p:nvSpPr>
        <p:spPr>
          <a:xfrm>
            <a:off x="573269" y="895354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输入、输出与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四类核心难点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ask-head">
            <a:extLst>
              <a:ext uri="{FF2B5EF4-FFF2-40B4-BE49-F238E27FC236}">
                <a16:creationId xmlns:a16="http://schemas.microsoft.com/office/drawing/2014/main" id="{FBFA197A-FCED-43E1-BDBE-C1FE748B4976}"/>
              </a:ext>
            </a:extLst>
          </p:cNvPr>
          <p:cNvSpPr>
            <a:spLocks noGrp="1"/>
          </p:cNvSpPr>
          <p:nvPr/>
        </p:nvSpPr>
        <p:spPr>
          <a:xfrm>
            <a:off x="571500" y="1567642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22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任务：输入无序点集，输出每个点的语义类别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task-io">
            <a:extLst>
              <a:ext uri="{FF2B5EF4-FFF2-40B4-BE49-F238E27FC236}">
                <a16:creationId xmlns:a16="http://schemas.microsoft.com/office/drawing/2014/main" id="{D1BDCC63-B4E8-4DA9-BEC4-0E1F3BDC0B4E}"/>
              </a:ext>
            </a:extLst>
          </p:cNvPr>
          <p:cNvSpPr>
            <a:spLocks noGrp="1"/>
          </p:cNvSpPr>
          <p:nvPr/>
        </p:nvSpPr>
        <p:spPr>
          <a:xfrm>
            <a:off x="619125" y="2569540"/>
            <a:ext cx="5334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2500" lnSpcReduction="10000"/>
          </a:bodyPr>
          <a:lstStyle/>
          <a:p>
            <a:pPr>
              <a:buNone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输入：N</a:t>
            </a: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个点的</a:t>
            </a: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(</a:t>
            </a:r>
            <a:r>
              <a:rPr sz="20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x, y, z, intensity</a:t>
            </a: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buNone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输出：道路、车辆、行人、骑行者、植被等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点标签</a:t>
            </a:r>
            <a:endParaRPr sz="20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task-challenges">
            <a:extLst>
              <a:ext uri="{FF2B5EF4-FFF2-40B4-BE49-F238E27FC236}">
                <a16:creationId xmlns:a16="http://schemas.microsoft.com/office/drawing/2014/main" id="{5BF05B2D-97BE-4A8B-A115-D89F035785FC}"/>
              </a:ext>
            </a:extLst>
          </p:cNvPr>
          <p:cNvSpPr>
            <a:spLocks noGrp="1"/>
          </p:cNvSpPr>
          <p:nvPr/>
        </p:nvSpPr>
        <p:spPr>
          <a:xfrm>
            <a:off x="619125" y="3946160"/>
            <a:ext cx="5334000" cy="18486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无序与不规则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：无法直接套用规则卷积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稀疏与密度不均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：远距离点更少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小目标与长尾类别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：行人、骑行者容易丢失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实时约束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：精度与推理速度必须同时满足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fig2-caption">
            <a:extLst>
              <a:ext uri="{FF2B5EF4-FFF2-40B4-BE49-F238E27FC236}">
                <a16:creationId xmlns:a16="http://schemas.microsoft.com/office/drawing/2014/main" id="{272EE240-744C-453A-B51F-AE7FB98CBFAA}"/>
              </a:ext>
            </a:extLst>
          </p:cNvPr>
          <p:cNvSpPr>
            <a:spLocks noGrp="1"/>
          </p:cNvSpPr>
          <p:nvPr/>
        </p:nvSpPr>
        <p:spPr>
          <a:xfrm>
            <a:off x="6715125" y="4619625"/>
            <a:ext cx="4524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15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体素过粗</a:t>
            </a:r>
            <a:r>
              <a:rPr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会使</a:t>
            </a:r>
            <a:r>
              <a:rPr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小目标不可区分</a:t>
            </a:r>
            <a:r>
              <a:rPr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体素过细</a:t>
            </a:r>
            <a:r>
              <a:rPr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则显著</a:t>
            </a:r>
            <a:r>
              <a:rPr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增加计算与显存</a:t>
            </a:r>
            <a:r>
              <a:rPr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121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8" y="1665369"/>
            <a:ext cx="5774042" cy="277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8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F748E4-C518-680D-AFCA-B73C76E18E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6" name="图片 2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7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8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04503542-B0E1-49B1-9F63-85C88D5A0256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895B9C8C-E76F-4336-B5EC-88FBB07E85F4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57DC5941-23BC-4A61-9DBE-06C26CA6258D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研究内容：方法分类</a:t>
            </a:r>
          </a:p>
        </p:txBody>
      </p:sp>
      <p:pic>
        <p:nvPicPr>
          <p:cNvPr id="11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B7FA1F9-A931-4C8B-A07D-01F5E99FA4EB}"/>
              </a:ext>
            </a:extLst>
          </p:cNvPr>
          <p:cNvSpPr>
            <a:spLocks noGrp="1"/>
          </p:cNvSpPr>
          <p:nvPr/>
        </p:nvSpPr>
        <p:spPr>
          <a:xfrm>
            <a:off x="154862" y="875718"/>
            <a:ext cx="9745327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har char="Ø"/>
            </a:pPr>
            <a:endParaRPr/>
          </a:p>
        </p:txBody>
      </p:sp>
      <p:sp>
        <p:nvSpPr>
          <p:cNvPr id="95" name="taxonomy-kicker">
            <a:extLst>
              <a:ext uri="{FF2B5EF4-FFF2-40B4-BE49-F238E27FC236}">
                <a16:creationId xmlns:a16="http://schemas.microsoft.com/office/drawing/2014/main" id="{F51546B0-2DA5-4AB8-B354-BC9E5F108424}"/>
              </a:ext>
            </a:extLst>
          </p:cNvPr>
          <p:cNvSpPr>
            <a:spLocks noGrp="1"/>
          </p:cNvSpPr>
          <p:nvPr/>
        </p:nvSpPr>
        <p:spPr>
          <a:xfrm>
            <a:off x="516562" y="895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综述框架与技术谱系</a:t>
            </a:r>
            <a:endParaRPr sz="24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taxonomy-head">
            <a:extLst>
              <a:ext uri="{FF2B5EF4-FFF2-40B4-BE49-F238E27FC236}">
                <a16:creationId xmlns:a16="http://schemas.microsoft.com/office/drawing/2014/main" id="{6937D756-525F-40ED-B48E-E7542238A820}"/>
              </a:ext>
            </a:extLst>
          </p:cNvPr>
          <p:cNvSpPr>
            <a:spLocks noGrp="1"/>
          </p:cNvSpPr>
          <p:nvPr/>
        </p:nvSpPr>
        <p:spPr>
          <a:xfrm>
            <a:off x="6079608" y="1666875"/>
            <a:ext cx="5238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论文将现有工作归纳为三条路线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taxonomy-copy">
            <a:extLst>
              <a:ext uri="{FF2B5EF4-FFF2-40B4-BE49-F238E27FC236}">
                <a16:creationId xmlns:a16="http://schemas.microsoft.com/office/drawing/2014/main" id="{25A0CBEB-22FC-41F0-A13A-80D4F91D60FF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51435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投影类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：BEV</a:t>
            </a: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/ Range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View，速度快但有信息损失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</a:rPr>
              <a:t>3D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类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：体素</a:t>
            </a: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点，几何保真但计算开销大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混合类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：多分支、多表示融合，兼顾互补优势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taxonomy-thesis">
            <a:extLst>
              <a:ext uri="{FF2B5EF4-FFF2-40B4-BE49-F238E27FC236}">
                <a16:creationId xmlns:a16="http://schemas.microsoft.com/office/drawing/2014/main" id="{74CDA3BF-8A42-4469-BF6F-8FB1B109ABD9}"/>
              </a:ext>
            </a:extLst>
          </p:cNvPr>
          <p:cNvSpPr>
            <a:spLocks noGrp="1"/>
          </p:cNvSpPr>
          <p:nvPr/>
        </p:nvSpPr>
        <p:spPr>
          <a:xfrm>
            <a:off x="5953125" y="5000625"/>
            <a:ext cx="5000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02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演进趋势：单一表示</a:t>
            </a: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4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多表示协同</a:t>
            </a:r>
            <a:endParaRPr sz="2400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9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39" y="1373814"/>
            <a:ext cx="4828071" cy="457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1FD97EB-7840-33AF-3A22-1125FDC31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16" name="图片 2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17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18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50905DF0-60FF-4FC4-BADB-50A222496466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C6C72149-53AB-4B0A-BC46-6929403C9EA8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8E690C8-8693-454A-AF87-751F5C7750A2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研究内容：关键技术基础</a:t>
            </a:r>
          </a:p>
        </p:txBody>
      </p:sp>
      <p:pic>
        <p:nvPicPr>
          <p:cNvPr id="12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2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7D8093-36F5-4849-B10F-DE204C759FD8}"/>
              </a:ext>
            </a:extLst>
          </p:cNvPr>
          <p:cNvSpPr>
            <a:spLocks noGrp="1"/>
          </p:cNvSpPr>
          <p:nvPr/>
        </p:nvSpPr>
        <p:spPr>
          <a:xfrm>
            <a:off x="186612" y="890958"/>
            <a:ext cx="9745327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har char="Ø"/>
            </a:pPr>
            <a:endParaRPr/>
          </a:p>
        </p:txBody>
      </p:sp>
      <p:sp>
        <p:nvSpPr>
          <p:cNvPr id="95" name="projection-kicker">
            <a:extLst>
              <a:ext uri="{FF2B5EF4-FFF2-40B4-BE49-F238E27FC236}">
                <a16:creationId xmlns:a16="http://schemas.microsoft.com/office/drawing/2014/main" id="{E5BBDB02-C9F1-4A96-A24E-109D23AF3333}"/>
              </a:ext>
            </a:extLst>
          </p:cNvPr>
          <p:cNvSpPr>
            <a:spLocks noGrp="1"/>
          </p:cNvSpPr>
          <p:nvPr/>
        </p:nvSpPr>
        <p:spPr>
          <a:xfrm>
            <a:off x="530741" y="93788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局部特征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到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全局关联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projection-head">
            <a:extLst>
              <a:ext uri="{FF2B5EF4-FFF2-40B4-BE49-F238E27FC236}">
                <a16:creationId xmlns:a16="http://schemas.microsoft.com/office/drawing/2014/main" id="{27A2D139-98A7-4571-8F65-7EB0155415AB}"/>
              </a:ext>
            </a:extLst>
          </p:cNvPr>
          <p:cNvSpPr>
            <a:spLocks noGrp="1"/>
          </p:cNvSpPr>
          <p:nvPr/>
        </p:nvSpPr>
        <p:spPr>
          <a:xfrm>
            <a:off x="571500" y="1503844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22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自注意力</a:t>
            </a: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：为不同特征动态分配权重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projection-copy">
            <a:extLst>
              <a:ext uri="{FF2B5EF4-FFF2-40B4-BE49-F238E27FC236}">
                <a16:creationId xmlns:a16="http://schemas.microsoft.com/office/drawing/2014/main" id="{1E5B5792-FE7F-4697-A9C6-1D5DE1731348}"/>
              </a:ext>
            </a:extLst>
          </p:cNvPr>
          <p:cNvSpPr>
            <a:spLocks noGrp="1"/>
          </p:cNvSpPr>
          <p:nvPr/>
        </p:nvSpPr>
        <p:spPr>
          <a:xfrm>
            <a:off x="590773" y="2517924"/>
            <a:ext cx="518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1.</a:t>
            </a: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生成 Q、K、V</a:t>
            </a:r>
          </a:p>
          <a:p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每个点或特征映射为</a:t>
            </a:r>
            <a:r>
              <a:rPr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键和值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2.</a:t>
            </a: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计算相关性</a:t>
            </a: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Q 与 K </a:t>
            </a:r>
            <a:r>
              <a:rPr sz="240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的</a:t>
            </a:r>
            <a:r>
              <a:rPr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点积</a:t>
            </a:r>
            <a:r>
              <a:rPr sz="240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衡量特征间关联</a:t>
            </a:r>
            <a:endParaRPr sz="24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4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3.</a:t>
            </a: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加权聚合</a:t>
            </a: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Softmax</a:t>
            </a:r>
            <a:r>
              <a:rPr sz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 </a:t>
            </a:r>
            <a:r>
              <a:rPr sz="240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权重决定各</a:t>
            </a:r>
            <a:r>
              <a:rPr sz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 V </a:t>
            </a:r>
            <a:r>
              <a:rPr sz="240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对输出的贡献</a:t>
            </a:r>
            <a:endParaRPr sz="24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99" name="projection-takeaway">
            <a:extLst>
              <a:ext uri="{FF2B5EF4-FFF2-40B4-BE49-F238E27FC236}">
                <a16:creationId xmlns:a16="http://schemas.microsoft.com/office/drawing/2014/main" id="{50ED3795-4375-42C1-8CA7-5C1CE85B46A8}"/>
              </a:ext>
            </a:extLst>
          </p:cNvPr>
          <p:cNvSpPr>
            <a:spLocks noGrp="1"/>
          </p:cNvSpPr>
          <p:nvPr/>
        </p:nvSpPr>
        <p:spPr>
          <a:xfrm>
            <a:off x="6427816" y="5139512"/>
            <a:ext cx="561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buNone/>
              <a:defRPr sz="16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核心价值：让网络“关注”更有判别力的点与尺度</a:t>
            </a:r>
            <a:r>
              <a:rPr sz="165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5" name="attention-formula-label">
            <a:extLst>
              <a:ext uri="{FF2B5EF4-FFF2-40B4-BE49-F238E27FC236}">
                <a16:creationId xmlns:a16="http://schemas.microsoft.com/office/drawing/2014/main" id="{43EDDB2D-0BE7-4413-8B59-528A91DC0FAB}"/>
              </a:ext>
            </a:extLst>
          </p:cNvPr>
          <p:cNvSpPr>
            <a:spLocks noGrp="1"/>
          </p:cNvSpPr>
          <p:nvPr/>
        </p:nvSpPr>
        <p:spPr>
          <a:xfrm>
            <a:off x="6144286" y="1090725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72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核心计算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attention-flow">
            <a:extLst>
              <a:ext uri="{FF2B5EF4-FFF2-40B4-BE49-F238E27FC236}">
                <a16:creationId xmlns:a16="http://schemas.microsoft.com/office/drawing/2014/main" id="{665DD717-E650-43A3-9CEF-2642F7AC58F5}"/>
              </a:ext>
            </a:extLst>
          </p:cNvPr>
          <p:cNvSpPr>
            <a:spLocks noGrp="1"/>
          </p:cNvSpPr>
          <p:nvPr/>
        </p:nvSpPr>
        <p:spPr>
          <a:xfrm>
            <a:off x="6278964" y="2516369"/>
            <a:ext cx="561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6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输入特征</a:t>
            </a:r>
            <a:r>
              <a:rPr b="1" dirty="0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  →  Q / K / V  →  </a:t>
            </a:r>
            <a:r>
              <a:rPr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相关性权重</a:t>
            </a:r>
            <a:r>
              <a:rPr b="1" dirty="0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  →  </a:t>
            </a:r>
            <a:r>
              <a:rPr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加权特征</a:t>
            </a:r>
            <a:endParaRPr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attention-value-head">
            <a:extLst>
              <a:ext uri="{FF2B5EF4-FFF2-40B4-BE49-F238E27FC236}">
                <a16:creationId xmlns:a16="http://schemas.microsoft.com/office/drawing/2014/main" id="{08DD9784-96BD-4969-BCE3-4416B9835B0F}"/>
              </a:ext>
            </a:extLst>
          </p:cNvPr>
          <p:cNvSpPr>
            <a:spLocks noGrp="1"/>
          </p:cNvSpPr>
          <p:nvPr/>
        </p:nvSpPr>
        <p:spPr>
          <a:xfrm>
            <a:off x="6352949" y="3138600"/>
            <a:ext cx="542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80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在点云分割中的作用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attention-value-copy">
            <a:extLst>
              <a:ext uri="{FF2B5EF4-FFF2-40B4-BE49-F238E27FC236}">
                <a16:creationId xmlns:a16="http://schemas.microsoft.com/office/drawing/2014/main" id="{A061CCDF-F177-49BD-8E86-5340FA090456}"/>
              </a:ext>
            </a:extLst>
          </p:cNvPr>
          <p:cNvSpPr>
            <a:spLocks noGrp="1"/>
          </p:cNvSpPr>
          <p:nvPr/>
        </p:nvSpPr>
        <p:spPr>
          <a:xfrm>
            <a:off x="6601038" y="3749528"/>
            <a:ext cx="5429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远距离点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之间的依赖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同时利用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局部细节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全局上下文</a:t>
            </a:r>
            <a:endParaRPr sz="20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强化小目标和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稀疏区域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的有效特征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支持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多尺度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多分支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特征的自适应融合</a:t>
            </a:r>
            <a:endParaRPr sz="20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BC11A7-DC05-9035-78B6-E97BA3944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500" y="1527322"/>
            <a:ext cx="476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27FE2C-4946-F313-2C06-B4314E6D9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16" name="图片 2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17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18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50905DF0-60FF-4FC4-BADB-50A222496466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C6C72149-53AB-4B0A-BC46-6929403C9EA8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8E690C8-8693-454A-AF87-751F5C7750A2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研究内容：关键技术基础</a:t>
            </a:r>
          </a:p>
        </p:txBody>
      </p:sp>
      <p:pic>
        <p:nvPicPr>
          <p:cNvPr id="12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2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7D8093-36F5-4849-B10F-DE204C759FD8}"/>
              </a:ext>
            </a:extLst>
          </p:cNvPr>
          <p:cNvSpPr>
            <a:spLocks noGrp="1"/>
          </p:cNvSpPr>
          <p:nvPr/>
        </p:nvSpPr>
        <p:spPr>
          <a:xfrm>
            <a:off x="186612" y="890958"/>
            <a:ext cx="9745327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har char="Ø"/>
            </a:pPr>
            <a:endParaRPr/>
          </a:p>
        </p:txBody>
      </p:sp>
      <p:sp>
        <p:nvSpPr>
          <p:cNvPr id="95" name="projection-kicker">
            <a:extLst>
              <a:ext uri="{FF2B5EF4-FFF2-40B4-BE49-F238E27FC236}">
                <a16:creationId xmlns:a16="http://schemas.microsoft.com/office/drawing/2014/main" id="{E5BBDB02-C9F1-4A96-A24E-109D23AF3333}"/>
              </a:ext>
            </a:extLst>
          </p:cNvPr>
          <p:cNvSpPr>
            <a:spLocks noGrp="1"/>
          </p:cNvSpPr>
          <p:nvPr/>
        </p:nvSpPr>
        <p:spPr>
          <a:xfrm>
            <a:off x="495297" y="987499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三种</a:t>
            </a:r>
            <a:r>
              <a:rPr lang="zh-CN" altLang="en-US" sz="240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支撑高效特征提取</a:t>
            </a:r>
            <a:endParaRPr sz="24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projection-head">
            <a:extLst>
              <a:ext uri="{FF2B5EF4-FFF2-40B4-BE49-F238E27FC236}">
                <a16:creationId xmlns:a16="http://schemas.microsoft.com/office/drawing/2014/main" id="{27A2D139-98A7-4571-8F65-7EB0155415AB}"/>
              </a:ext>
            </a:extLst>
          </p:cNvPr>
          <p:cNvSpPr>
            <a:spLocks noGrp="1"/>
          </p:cNvSpPr>
          <p:nvPr/>
        </p:nvSpPr>
        <p:spPr>
          <a:xfrm>
            <a:off x="571500" y="1730669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稀疏卷积</a:t>
            </a:r>
            <a:r>
              <a:rPr sz="2400" b="1" dirty="0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是高效3D计算的基础</a:t>
            </a:r>
          </a:p>
        </p:txBody>
      </p:sp>
      <p:sp>
        <p:nvSpPr>
          <p:cNvPr id="97" name="projection-copy">
            <a:extLst>
              <a:ext uri="{FF2B5EF4-FFF2-40B4-BE49-F238E27FC236}">
                <a16:creationId xmlns:a16="http://schemas.microsoft.com/office/drawing/2014/main" id="{1E5B5792-FE7F-4697-A9C6-1D5DE1731348}"/>
              </a:ext>
            </a:extLst>
          </p:cNvPr>
          <p:cNvSpPr>
            <a:spLocks noGrp="1"/>
          </p:cNvSpPr>
          <p:nvPr/>
        </p:nvSpPr>
        <p:spPr>
          <a:xfrm>
            <a:off x="619125" y="2397419"/>
            <a:ext cx="4476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t">
            <a:normAutofit/>
          </a:bodyPr>
          <a:lstStyle/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稀疏卷积</a:t>
            </a:r>
            <a:endParaRPr sz="2400" b="1" dirty="0">
              <a:solidFill>
                <a:srgbClr val="F47A20"/>
              </a:solidFill>
              <a:latin typeface="Microsoft YaHei"/>
              <a:ea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只在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非零体素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上执行卷积</a:t>
            </a:r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哈希表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存储活跃位置与特征</a:t>
            </a:r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子流形稀疏卷积</a:t>
            </a:r>
            <a:endParaRPr sz="2400" b="1" dirty="0">
              <a:solidFill>
                <a:srgbClr val="F47A20"/>
              </a:solidFill>
              <a:latin typeface="Microsoft YaHei"/>
              <a:ea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仅在对应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输入位置非零时激活输出</a:t>
            </a:r>
            <a:endParaRPr sz="24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避免卷积后活跃区域不断膨胀</a:t>
            </a:r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projection-takeaway">
            <a:extLst>
              <a:ext uri="{FF2B5EF4-FFF2-40B4-BE49-F238E27FC236}">
                <a16:creationId xmlns:a16="http://schemas.microsoft.com/office/drawing/2014/main" id="{50ED3795-4375-42C1-8CA7-5C1CE85B46A8}"/>
              </a:ext>
            </a:extLst>
          </p:cNvPr>
          <p:cNvSpPr>
            <a:spLocks noGrp="1"/>
          </p:cNvSpPr>
          <p:nvPr/>
        </p:nvSpPr>
        <p:spPr>
          <a:xfrm>
            <a:off x="5839489" y="5543550"/>
            <a:ext cx="561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6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共同目标：兼顾高分辨率、全局上下文与实时推理</a:t>
            </a:r>
            <a:endParaRPr sz="2000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attention-formula-label">
            <a:extLst>
              <a:ext uri="{FF2B5EF4-FFF2-40B4-BE49-F238E27FC236}">
                <a16:creationId xmlns:a16="http://schemas.microsoft.com/office/drawing/2014/main" id="{43EDDB2D-0BE7-4413-8B59-528A91DC0FAB}"/>
              </a:ext>
            </a:extLst>
          </p:cNvPr>
          <p:cNvSpPr>
            <a:spLocks noGrp="1"/>
          </p:cNvSpPr>
          <p:nvPr/>
        </p:nvSpPr>
        <p:spPr>
          <a:xfrm>
            <a:off x="5839489" y="171450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72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PointNet</a:t>
            </a:r>
            <a:r>
              <a:rPr sz="240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PointNet</a:t>
            </a:r>
            <a:r>
              <a:rPr sz="240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++ </a:t>
            </a: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保留原始几何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attention-formula">
            <a:extLst>
              <a:ext uri="{FF2B5EF4-FFF2-40B4-BE49-F238E27FC236}">
                <a16:creationId xmlns:a16="http://schemas.microsoft.com/office/drawing/2014/main" id="{6D65E57B-F9B2-4C46-9381-9247D9414333}"/>
              </a:ext>
            </a:extLst>
          </p:cNvPr>
          <p:cNvSpPr>
            <a:spLocks noGrp="1"/>
          </p:cNvSpPr>
          <p:nvPr/>
        </p:nvSpPr>
        <p:spPr>
          <a:xfrm>
            <a:off x="5934739" y="2190750"/>
            <a:ext cx="5429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t">
            <a:normAutofit/>
          </a:bodyPr>
          <a:lstStyle/>
          <a:p>
            <a:pPr algn="l">
              <a:buNone/>
              <a:def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PointNet：</a:t>
            </a:r>
            <a:r>
              <a:rPr sz="1600" dirty="0" err="1">
                <a:latin typeface="Microsoft YaHei"/>
                <a:ea typeface="Microsoft YaHei"/>
                <a:cs typeface="Microsoft YaHei"/>
              </a:rPr>
              <a:t>逐点</a:t>
            </a:r>
            <a:r>
              <a:rPr sz="1600" dirty="0">
                <a:latin typeface="Microsoft YaHei"/>
                <a:ea typeface="Microsoft YaHei"/>
                <a:cs typeface="Microsoft YaHei"/>
              </a:rPr>
              <a:t> MLP + max </a:t>
            </a:r>
            <a:r>
              <a:rPr sz="1600" dirty="0" err="1">
                <a:latin typeface="Microsoft YaHei"/>
                <a:ea typeface="Microsoft YaHei"/>
                <a:cs typeface="Microsoft YaHei"/>
              </a:rPr>
              <a:t>pooling</a:t>
            </a:r>
            <a:r>
              <a:rPr sz="16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，获得置换不变的全局特征</a:t>
            </a:r>
            <a:endParaRPr sz="16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PointNet</a:t>
            </a:r>
            <a:r>
              <a:rPr sz="16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++：</a:t>
            </a:r>
            <a:r>
              <a:rPr sz="16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分层聚合局部邻域，补足上下文</a:t>
            </a:r>
            <a:endParaRPr sz="16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latin typeface="Microsoft YaHei"/>
                <a:ea typeface="Microsoft YaHei"/>
                <a:cs typeface="Microsoft YaHei"/>
              </a:rPr>
              <a:t>局限</a:t>
            </a:r>
            <a:r>
              <a:rPr sz="16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：邻域搜索会增加推理开销</a:t>
            </a:r>
            <a:endParaRPr sz="16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attention-flow">
            <a:extLst>
              <a:ext uri="{FF2B5EF4-FFF2-40B4-BE49-F238E27FC236}">
                <a16:creationId xmlns:a16="http://schemas.microsoft.com/office/drawing/2014/main" id="{665DD717-E650-43A3-9CEF-2642F7AC58F5}"/>
              </a:ext>
            </a:extLst>
          </p:cNvPr>
          <p:cNvSpPr>
            <a:spLocks noGrp="1"/>
          </p:cNvSpPr>
          <p:nvPr/>
        </p:nvSpPr>
        <p:spPr>
          <a:xfrm>
            <a:off x="5839489" y="3286125"/>
            <a:ext cx="561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6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原始点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 → 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逐点特征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 → 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全局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局部聚合</a:t>
            </a:r>
            <a:endParaRPr sz="2000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attention-value-head">
            <a:extLst>
              <a:ext uri="{FF2B5EF4-FFF2-40B4-BE49-F238E27FC236}">
                <a16:creationId xmlns:a16="http://schemas.microsoft.com/office/drawing/2014/main" id="{08DD9784-96BD-4969-BCE3-4416B9835B0F}"/>
              </a:ext>
            </a:extLst>
          </p:cNvPr>
          <p:cNvSpPr>
            <a:spLocks noGrp="1"/>
          </p:cNvSpPr>
          <p:nvPr/>
        </p:nvSpPr>
        <p:spPr>
          <a:xfrm>
            <a:off x="5934739" y="3905250"/>
            <a:ext cx="542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>
              <a:buNone/>
              <a:defRPr sz="172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空洞卷积</a:t>
            </a: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扩大感受野，同时保持分辨率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attention-value-copy">
            <a:extLst>
              <a:ext uri="{FF2B5EF4-FFF2-40B4-BE49-F238E27FC236}">
                <a16:creationId xmlns:a16="http://schemas.microsoft.com/office/drawing/2014/main" id="{A061CCDF-F177-49BD-8E86-5340FA090456}"/>
              </a:ext>
            </a:extLst>
          </p:cNvPr>
          <p:cNvSpPr>
            <a:spLocks noGrp="1"/>
          </p:cNvSpPr>
          <p:nvPr/>
        </p:nvSpPr>
        <p:spPr>
          <a:xfrm>
            <a:off x="5934739" y="4381500"/>
            <a:ext cx="542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t">
            <a:normAutofit/>
          </a:bodyPr>
          <a:lstStyle/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卷积核按照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间隔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进行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采样</a:t>
            </a:r>
            <a:endParaRPr sz="20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不经过下采样也能获得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更大的感受野</a:t>
            </a:r>
            <a:endParaRPr sz="20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参数量基本不变，兼顾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边界细节</a:t>
            </a:r>
            <a:r>
              <a:rPr sz="20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全局上下文</a:t>
            </a:r>
            <a:endParaRPr sz="20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0679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477472-65D2-B195-2677-4339C809C1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6" name="图片 2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7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8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50905DF0-60FF-4FC4-BADB-50A222496466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C6C72149-53AB-4B0A-BC46-6929403C9EA8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8E690C8-8693-454A-AF87-751F5C7750A2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研究内容：投影类方法</a:t>
            </a:r>
          </a:p>
        </p:txBody>
      </p:sp>
      <p:pic>
        <p:nvPicPr>
          <p:cNvPr id="11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7D8093-36F5-4849-B10F-DE204C759FD8}"/>
              </a:ext>
            </a:extLst>
          </p:cNvPr>
          <p:cNvSpPr>
            <a:spLocks noGrp="1"/>
          </p:cNvSpPr>
          <p:nvPr/>
        </p:nvSpPr>
        <p:spPr>
          <a:xfrm>
            <a:off x="186612" y="890958"/>
            <a:ext cx="9745327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har char="Ø"/>
            </a:pPr>
            <a:endParaRPr/>
          </a:p>
        </p:txBody>
      </p:sp>
      <p:sp>
        <p:nvSpPr>
          <p:cNvPr id="95" name="projection-kicker">
            <a:extLst>
              <a:ext uri="{FF2B5EF4-FFF2-40B4-BE49-F238E27FC236}">
                <a16:creationId xmlns:a16="http://schemas.microsoft.com/office/drawing/2014/main" id="{E5BBDB02-C9F1-4A96-A24E-109D23AF3333}"/>
              </a:ext>
            </a:extLst>
          </p:cNvPr>
          <p:cNvSpPr>
            <a:spLocks noGrp="1"/>
          </p:cNvSpPr>
          <p:nvPr/>
        </p:nvSpPr>
        <p:spPr>
          <a:xfrm>
            <a:off x="509473" y="987498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二维计算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换取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更高推理效率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projection-head">
            <a:extLst>
              <a:ext uri="{FF2B5EF4-FFF2-40B4-BE49-F238E27FC236}">
                <a16:creationId xmlns:a16="http://schemas.microsoft.com/office/drawing/2014/main" id="{27A2D139-98A7-4571-8F65-7EB0155415AB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342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两种主要投影视角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projection-copy">
            <a:extLst>
              <a:ext uri="{FF2B5EF4-FFF2-40B4-BE49-F238E27FC236}">
                <a16:creationId xmlns:a16="http://schemas.microsoft.com/office/drawing/2014/main" id="{1E5B5792-FE7F-4697-A9C6-1D5DE1731348}"/>
              </a:ext>
            </a:extLst>
          </p:cNvPr>
          <p:cNvSpPr>
            <a:spLocks noGrp="1"/>
          </p:cNvSpPr>
          <p:nvPr/>
        </p:nvSpPr>
        <p:spPr>
          <a:xfrm>
            <a:off x="371032" y="2505408"/>
            <a:ext cx="5817117" cy="3154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BEV</a:t>
            </a:r>
            <a:r>
              <a:rPr sz="22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：俯视投影，结构直观，</a:t>
            </a:r>
            <a:r>
              <a:rPr sz="22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但会丢失高度信息</a:t>
            </a:r>
            <a:endParaRPr sz="22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endParaRPr sz="22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>
                <a:solidFill>
                  <a:srgbClr val="F47A20"/>
                </a:solidFill>
                <a:latin typeface="Microsoft YaHei"/>
                <a:ea typeface="Microsoft YaHei"/>
              </a:rPr>
              <a:t>Range </a:t>
            </a:r>
            <a:r>
              <a:rPr sz="22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View</a:t>
            </a:r>
            <a:r>
              <a:rPr sz="22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：球面全景映射，速度快，</a:t>
            </a:r>
            <a:r>
              <a:rPr sz="22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但存在像素冲突</a:t>
            </a:r>
            <a:endParaRPr sz="22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endParaRPr sz="22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PolarNet</a:t>
            </a:r>
            <a:r>
              <a:rPr sz="22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22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极坐标网格</a:t>
            </a:r>
            <a:r>
              <a:rPr sz="22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适应远近点密度变化</a:t>
            </a:r>
            <a:endParaRPr lang="en-US" sz="22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2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SalsaNext</a:t>
            </a:r>
            <a:r>
              <a:rPr sz="22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：多尺度</a:t>
            </a:r>
            <a:r>
              <a:rPr sz="22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空洞卷积</a:t>
            </a:r>
            <a:r>
              <a:rPr sz="22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扩大感受野</a:t>
            </a:r>
            <a:endParaRPr sz="22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projection-takeaway">
            <a:extLst>
              <a:ext uri="{FF2B5EF4-FFF2-40B4-BE49-F238E27FC236}">
                <a16:creationId xmlns:a16="http://schemas.microsoft.com/office/drawing/2014/main" id="{50ED3795-4375-42C1-8CA7-5C1CE85B46A8}"/>
              </a:ext>
            </a:extLst>
          </p:cNvPr>
          <p:cNvSpPr>
            <a:spLocks noGrp="1"/>
          </p:cNvSpPr>
          <p:nvPr/>
        </p:nvSpPr>
        <p:spPr>
          <a:xfrm>
            <a:off x="6430914" y="5799686"/>
            <a:ext cx="542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172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优势：实时性强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代价：投影会损失三维几何</a:t>
            </a:r>
            <a:endParaRPr sz="2000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B446A5-2BFC-F0ED-45FB-A697E31D3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312" y="946678"/>
            <a:ext cx="4617188" cy="21289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42C0C4-4A86-8457-A0A4-1D03E14B7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312" y="3131307"/>
            <a:ext cx="4617188" cy="254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5D03DBE-7E96-F1B8-993B-943679F838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6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7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8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1A8E7DD2-1C9F-499A-AB96-F8C46313777C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BDC6DC0A-54DC-4CF8-97E0-A7F40509C210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4DD88E9-0B5A-470B-988B-B63566CF9B44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研究内容：3D 类方法</a:t>
            </a:r>
          </a:p>
        </p:txBody>
      </p:sp>
      <p:pic>
        <p:nvPicPr>
          <p:cNvPr id="11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three-d-kicker">
            <a:extLst>
              <a:ext uri="{FF2B5EF4-FFF2-40B4-BE49-F238E27FC236}">
                <a16:creationId xmlns:a16="http://schemas.microsoft.com/office/drawing/2014/main" id="{68A62768-9EB1-4CFC-82D0-B5FA03E5CA19}"/>
              </a:ext>
            </a:extLst>
          </p:cNvPr>
          <p:cNvSpPr>
            <a:spLocks noGrp="1"/>
          </p:cNvSpPr>
          <p:nvPr/>
        </p:nvSpPr>
        <p:spPr>
          <a:xfrm>
            <a:off x="559093" y="966233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直接保留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三维几何结构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hree-d-head">
            <a:extLst>
              <a:ext uri="{FF2B5EF4-FFF2-40B4-BE49-F238E27FC236}">
                <a16:creationId xmlns:a16="http://schemas.microsoft.com/office/drawing/2014/main" id="{C5A01FA0-DF82-4BA3-8B8F-FB5F7BCC3BF8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体素与点表示各有侧重</a:t>
            </a:r>
            <a:endParaRPr sz="24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three-d-copy">
            <a:extLst>
              <a:ext uri="{FF2B5EF4-FFF2-40B4-BE49-F238E27FC236}">
                <a16:creationId xmlns:a16="http://schemas.microsoft.com/office/drawing/2014/main" id="{D36AA8D8-9658-4DA2-806B-120B85C66D73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5391815" cy="4055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</a:rPr>
              <a:t>Cylinder3D</a:t>
            </a:r>
            <a:r>
              <a:rPr sz="23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23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圆柱体素</a:t>
            </a:r>
            <a:r>
              <a:rPr sz="23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适应 </a:t>
            </a:r>
            <a:r>
              <a:rPr sz="23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LiDAR </a:t>
            </a:r>
            <a:r>
              <a:rPr sz="23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密度分布</a:t>
            </a:r>
            <a:endParaRPr sz="23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endParaRPr sz="23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SPVC</a:t>
            </a:r>
            <a:r>
              <a:rPr sz="23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23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PointNet</a:t>
            </a:r>
            <a:r>
              <a:rPr sz="23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式点分支保细节，</a:t>
            </a:r>
            <a:r>
              <a:rPr sz="23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稀疏卷积</a:t>
            </a:r>
            <a:r>
              <a:rPr sz="23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体素分支扩感受野</a:t>
            </a:r>
            <a:endParaRPr sz="23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endParaRPr sz="23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PointNet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</a:rPr>
              <a:t>++</a:t>
            </a:r>
            <a:r>
              <a:rPr sz="2000" dirty="0">
                <a:latin typeface="Microsoft YaHei"/>
                <a:ea typeface="Microsoft YaHei"/>
              </a:rPr>
              <a:t>：</a:t>
            </a:r>
            <a:r>
              <a:rPr sz="23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聚合局部邻域补足上下文，但搜索</a:t>
            </a:r>
            <a:r>
              <a:rPr sz="23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开销较高</a:t>
            </a:r>
            <a:endParaRPr sz="230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endParaRPr sz="23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DRINet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</a:rPr>
              <a:t>++</a:t>
            </a:r>
            <a:r>
              <a:rPr sz="2000" dirty="0">
                <a:latin typeface="Microsoft YaHei"/>
                <a:ea typeface="Microsoft YaHei"/>
              </a:rPr>
              <a:t>：</a:t>
            </a:r>
            <a:r>
              <a:rPr sz="23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把体素视作</a:t>
            </a:r>
            <a:r>
              <a:rPr sz="23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超级点</a:t>
            </a:r>
            <a:r>
              <a:rPr sz="23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，减少逐点运算</a:t>
            </a:r>
            <a:endParaRPr sz="23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three-d-takeaway">
            <a:extLst>
              <a:ext uri="{FF2B5EF4-FFF2-40B4-BE49-F238E27FC236}">
                <a16:creationId xmlns:a16="http://schemas.microsoft.com/office/drawing/2014/main" id="{6B271532-029F-43BE-84D4-BF1804E3E224}"/>
              </a:ext>
            </a:extLst>
          </p:cNvPr>
          <p:cNvSpPr>
            <a:spLocks noGrp="1"/>
          </p:cNvSpPr>
          <p:nvPr/>
        </p:nvSpPr>
        <p:spPr>
          <a:xfrm>
            <a:off x="6456174" y="5260897"/>
            <a:ext cx="561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9525" rIns="9525" bIns="9525" anchor="ctr">
            <a:noAutofit/>
          </a:bodyPr>
          <a:lstStyle/>
          <a:p>
            <a:pPr algn="ctr">
              <a:buNone/>
              <a:defRPr sz="157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稀疏卷积减少无效计算，但3D方法仍受显存与实时性约束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16B4B6-6E37-DC81-AAA1-2D7437378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910" y="1846816"/>
            <a:ext cx="5962928" cy="302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23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AEA007-4EE2-02B6-D153-50CF37E612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5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6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7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72E4699A-A8D3-477F-B1D6-50C9E56BDF8F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005FDA7B-2EAA-4513-AF09-1E7E9A2A8B4E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3CDE31D-C738-4435-BC38-9D070D3F23C7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研究内容：混合类方法</a:t>
            </a:r>
          </a:p>
        </p:txBody>
      </p:sp>
      <p:pic>
        <p:nvPicPr>
          <p:cNvPr id="11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2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hybrid-kicker">
            <a:extLst>
              <a:ext uri="{FF2B5EF4-FFF2-40B4-BE49-F238E27FC236}">
                <a16:creationId xmlns:a16="http://schemas.microsoft.com/office/drawing/2014/main" id="{A3CC0DB3-D710-4832-B33C-70D7CE35C1B2}"/>
              </a:ext>
            </a:extLst>
          </p:cNvPr>
          <p:cNvSpPr>
            <a:spLocks noGrp="1"/>
          </p:cNvSpPr>
          <p:nvPr/>
        </p:nvSpPr>
        <p:spPr>
          <a:xfrm>
            <a:off x="537831" y="1015854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多视图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多表示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多阶段融合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hybrid-copy">
            <a:extLst>
              <a:ext uri="{FF2B5EF4-FFF2-40B4-BE49-F238E27FC236}">
                <a16:creationId xmlns:a16="http://schemas.microsoft.com/office/drawing/2014/main" id="{D6D330D6-31B0-4E03-AFB0-F265E4B481FB}"/>
              </a:ext>
            </a:extLst>
          </p:cNvPr>
          <p:cNvSpPr>
            <a:spLocks noGrp="1"/>
          </p:cNvSpPr>
          <p:nvPr/>
        </p:nvSpPr>
        <p:spPr>
          <a:xfrm>
            <a:off x="571500" y="2070023"/>
            <a:ext cx="4163533" cy="34234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AMVNet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：融合</a:t>
            </a: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Range View </a:t>
            </a: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sz="24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BEV</a:t>
            </a:r>
          </a:p>
          <a:p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</a:rPr>
              <a:t>2D3DNet</a:t>
            </a: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：使用 </a:t>
            </a:r>
            <a:r>
              <a:rPr sz="240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2D 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监督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训练</a:t>
            </a:r>
            <a:r>
              <a:rPr sz="2400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3D 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47A20"/>
                </a:solidFill>
                <a:latin typeface="Microsoft YaHei"/>
                <a:ea typeface="Microsoft YaHei"/>
              </a:rPr>
              <a:t>RPVNet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点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体素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4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距离图</a:t>
            </a:r>
            <a:r>
              <a:rPr sz="2400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三分支，在多个阶段交换特征</a:t>
            </a:r>
            <a:endParaRPr sz="2400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hybrid-takeaway">
            <a:extLst>
              <a:ext uri="{FF2B5EF4-FFF2-40B4-BE49-F238E27FC236}">
                <a16:creationId xmlns:a16="http://schemas.microsoft.com/office/drawing/2014/main" id="{948CFDFA-34BE-43A1-909F-DF402CAA200E}"/>
              </a:ext>
            </a:extLst>
          </p:cNvPr>
          <p:cNvSpPr>
            <a:spLocks noGrp="1"/>
          </p:cNvSpPr>
          <p:nvPr/>
        </p:nvSpPr>
        <p:spPr>
          <a:xfrm>
            <a:off x="5145042" y="5191125"/>
            <a:ext cx="685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180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融合不再只发生在网络末端，而是贯穿多层特征学习</a:t>
            </a:r>
            <a:r>
              <a:rPr sz="18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D4C07E-62EA-0C60-CBEE-7CB79F510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6304" y="1647006"/>
            <a:ext cx="7133927" cy="319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1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F80E52A-2CB9-4054-648A-DAAA18299C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4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5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6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2092985E-9166-4AB6-A5E9-B8048A3824E6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F8BC6602-1D0C-4253-90E5-0C96D0F4BB62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AA8D297-45A9-45BA-A416-1AC3A49285A8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研究内容：路线对比</a:t>
            </a:r>
          </a:p>
        </p:txBody>
      </p:sp>
      <p:pic>
        <p:nvPicPr>
          <p:cNvPr id="110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1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tradeoff-kicker">
            <a:extLst>
              <a:ext uri="{FF2B5EF4-FFF2-40B4-BE49-F238E27FC236}">
                <a16:creationId xmlns:a16="http://schemas.microsoft.com/office/drawing/2014/main" id="{15189717-CBD5-4015-AE92-336CF86B5BA9}"/>
              </a:ext>
            </a:extLst>
          </p:cNvPr>
          <p:cNvSpPr>
            <a:spLocks noGrp="1"/>
          </p:cNvSpPr>
          <p:nvPr/>
        </p:nvSpPr>
        <p:spPr>
          <a:xfrm>
            <a:off x="474029" y="994583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三类方法的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精度</a:t>
            </a:r>
            <a:r>
              <a:rPr sz="240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效率权衡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13" name="表格 106"/>
          <p:cNvGraphicFramePr/>
          <p:nvPr>
            <p:extLst>
              <p:ext uri="{D42A27DB-BD31-4B8C-83A1-F6EECF244321}">
                <p14:modId xmlns:p14="http://schemas.microsoft.com/office/powerpoint/2010/main" val="1513483491"/>
              </p:ext>
            </p:extLst>
          </p:nvPr>
        </p:nvGraphicFramePr>
        <p:xfrm>
          <a:off x="495300" y="1666875"/>
          <a:ext cx="11191875" cy="3143252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核心表示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局限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代表方法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投影类</a:t>
                      </a:r>
                    </a:p>
                  </a:txBody>
                  <a:tcPr anchor="ctr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BEV / RV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推理快；可复用 2D CNN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投影造成几何与深度信息损失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PolarNet</a:t>
                      </a:r>
                    </a:p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SalsaNext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 类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体素 / 点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保留几何；分割精度更高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显存与计算开销更大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Cylinder3D</a:t>
                      </a:r>
                    </a:p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DRINet++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混合类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多分支融合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 dirty="0" err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综合多种表示的互补优势</a:t>
                      </a:r>
                      <a:endParaRPr sz="1500" b="0" dirty="0">
                        <a:solidFill>
                          <a:srgbClr val="1F29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 dirty="0" err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结构复杂；融合与部署成本更高</a:t>
                      </a:r>
                      <a:endParaRPr sz="1500" b="0" dirty="0">
                        <a:solidFill>
                          <a:srgbClr val="1F29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 dirty="0" err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AMVNet</a:t>
                      </a:r>
                      <a:endParaRPr sz="1500" b="0" dirty="0">
                        <a:solidFill>
                          <a:srgbClr val="1F29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sz="1500" b="0" dirty="0" err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RPVNet</a:t>
                      </a:r>
                      <a:endParaRPr sz="1500" b="0" dirty="0">
                        <a:solidFill>
                          <a:srgbClr val="1F29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" name="tradeoff-conclusion">
            <a:extLst>
              <a:ext uri="{FF2B5EF4-FFF2-40B4-BE49-F238E27FC236}">
                <a16:creationId xmlns:a16="http://schemas.microsoft.com/office/drawing/2014/main" id="{29C6DC53-C93D-46AD-B23E-3A1CF7813BFF}"/>
              </a:ext>
            </a:extLst>
          </p:cNvPr>
          <p:cNvSpPr>
            <a:spLocks noGrp="1"/>
          </p:cNvSpPr>
          <p:nvPr/>
        </p:nvSpPr>
        <p:spPr>
          <a:xfrm>
            <a:off x="1232043" y="51911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202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025" b="1" dirty="0"/>
              <a:t>车载系统不能只看分割精度还需要同时考虑推理时间和硬件资源</a:t>
            </a:r>
            <a:endParaRPr sz="2025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5986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CD7042F-7649-6C05-D2C0-930FCDD091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7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8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9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A3B2853C-D5E0-4003-AFE3-E1BABC7C4A72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C2CF51F1-4C10-4263-BC89-B55154E28292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BE6D532-AFA1-421F-8014-9AB8BA17CA35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研究内容：数据集</a:t>
            </a:r>
          </a:p>
        </p:txBody>
      </p:sp>
      <p:pic>
        <p:nvPicPr>
          <p:cNvPr id="11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4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dataset-kicker">
            <a:extLst>
              <a:ext uri="{FF2B5EF4-FFF2-40B4-BE49-F238E27FC236}">
                <a16:creationId xmlns:a16="http://schemas.microsoft.com/office/drawing/2014/main" id="{066DECAA-871B-4BD7-9F9E-93BB31ECD420}"/>
              </a:ext>
            </a:extLst>
          </p:cNvPr>
          <p:cNvSpPr>
            <a:spLocks noGrp="1"/>
          </p:cNvSpPr>
          <p:nvPr/>
        </p:nvSpPr>
        <p:spPr>
          <a:xfrm>
            <a:off x="474031" y="1001674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合成数据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16" name="表格 108"/>
          <p:cNvGraphicFramePr/>
          <p:nvPr>
            <p:extLst>
              <p:ext uri="{D42A27DB-BD31-4B8C-83A1-F6EECF244321}">
                <p14:modId xmlns:p14="http://schemas.microsoft.com/office/powerpoint/2010/main" val="928502769"/>
              </p:ext>
            </p:extLst>
          </p:nvPr>
        </p:nvGraphicFramePr>
        <p:xfrm>
          <a:off x="452771" y="1780288"/>
          <a:ext cx="7096125" cy="28575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扫描数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点数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SemanticKITTI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43,552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4.549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 dirty="0" err="1">
                          <a:solidFill>
                            <a:srgbClr val="FF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</a:t>
                      </a:r>
                      <a:endParaRPr sz="1425" b="0" dirty="0">
                        <a:solidFill>
                          <a:srgbClr val="FF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nuScenes-Lidarseg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 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25" b="0" dirty="0" err="1">
                          <a:solidFill>
                            <a:srgbClr val="FF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</a:t>
                      </a:r>
                      <a:endParaRPr sz="1425" b="0" dirty="0">
                        <a:solidFill>
                          <a:srgbClr val="FF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SynLiDAR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198,396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19.482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25" b="0" dirty="0" err="1">
                          <a:solidFill>
                            <a:srgbClr val="FF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</a:t>
                      </a:r>
                      <a:endParaRPr sz="1425" b="0" dirty="0">
                        <a:solidFill>
                          <a:srgbClr val="FF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" name="dataset-synthetic">
            <a:extLst>
              <a:ext uri="{FF2B5EF4-FFF2-40B4-BE49-F238E27FC236}">
                <a16:creationId xmlns:a16="http://schemas.microsoft.com/office/drawing/2014/main" id="{C89C1DC7-A37D-4DB3-8B92-BFF2F1DD051D}"/>
              </a:ext>
            </a:extLst>
          </p:cNvPr>
          <p:cNvSpPr>
            <a:spLocks noGrp="1"/>
          </p:cNvSpPr>
          <p:nvPr/>
        </p:nvSpPr>
        <p:spPr>
          <a:xfrm>
            <a:off x="8090046" y="3800695"/>
            <a:ext cx="3619500" cy="9555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 algn="ctr">
              <a:buNone/>
              <a:defRPr sz="15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SynLiDAR</a:t>
            </a:r>
            <a:r>
              <a:rPr sz="200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规模更大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标签自动生成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；核心难点是缩小真实</a:t>
            </a:r>
            <a:r>
              <a:rPr sz="200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合成域差异</a:t>
            </a:r>
            <a:endParaRPr sz="200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dataset-note">
            <a:extLst>
              <a:ext uri="{FF2B5EF4-FFF2-40B4-BE49-F238E27FC236}">
                <a16:creationId xmlns:a16="http://schemas.microsoft.com/office/drawing/2014/main" id="{052AFA9C-4A91-456F-AF4A-E4C2D2054B0B}"/>
              </a:ext>
            </a:extLst>
          </p:cNvPr>
          <p:cNvSpPr>
            <a:spLocks noGrp="1"/>
          </p:cNvSpPr>
          <p:nvPr/>
        </p:nvSpPr>
        <p:spPr>
          <a:xfrm>
            <a:off x="3595580" y="5095875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180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3D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数据集的规模与多样性仍落后于</a:t>
            </a:r>
            <a:r>
              <a:rPr sz="20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 2D </a:t>
            </a: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2000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E17098-22B4-F6C7-28A5-549CBCB65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591" y="2554896"/>
            <a:ext cx="4323907" cy="90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0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DFC99DA-FD29-B13C-3C6A-579F359496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07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08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09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45588BAF-42ED-4AA2-8FBF-4F31F7160FC7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F2B7468D-CD81-4A87-AC95-45F3AE2103F9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FBEFB7F-144E-4F22-A9FC-A66E366A42E7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研究内容：评价结果</a:t>
            </a:r>
          </a:p>
        </p:txBody>
      </p:sp>
      <p:pic>
        <p:nvPicPr>
          <p:cNvPr id="11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14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metrics-kicker">
            <a:extLst>
              <a:ext uri="{FF2B5EF4-FFF2-40B4-BE49-F238E27FC236}">
                <a16:creationId xmlns:a16="http://schemas.microsoft.com/office/drawing/2014/main" id="{79203AC6-740E-4CA3-9071-983D6137880D}"/>
              </a:ext>
            </a:extLst>
          </p:cNvPr>
          <p:cNvSpPr>
            <a:spLocks noGrp="1"/>
          </p:cNvSpPr>
          <p:nvPr/>
        </p:nvSpPr>
        <p:spPr>
          <a:xfrm>
            <a:off x="488209" y="987498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mIoU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推理时间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必须一起看</a:t>
            </a:r>
            <a:endParaRPr sz="24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16" name="表格 109"/>
          <p:cNvGraphicFramePr/>
          <p:nvPr>
            <p:extLst>
              <p:ext uri="{D42A27DB-BD31-4B8C-83A1-F6EECF244321}">
                <p14:modId xmlns:p14="http://schemas.microsoft.com/office/powerpoint/2010/main" val="2245202791"/>
              </p:ext>
            </p:extLst>
          </p:nvPr>
        </p:nvGraphicFramePr>
        <p:xfrm>
          <a:off x="445682" y="1727567"/>
          <a:ext cx="6858000" cy="357187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mIoU (%)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推理时间 (ms)</a:t>
                      </a:r>
                    </a:p>
                  </a:txBody>
                  <a:tcPr anchor="ctr">
                    <a:solidFill>
                      <a:srgbClr val="08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PolarNet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SalsaNext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DRINet++</a:t>
                      </a:r>
                    </a:p>
                  </a:txBody>
                  <a:tcPr anchor="ctr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70.7</a:t>
                      </a:r>
                    </a:p>
                  </a:txBody>
                  <a:tcPr anchor="ctr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</a:t>
                      </a:r>
                    </a:p>
                  </a:txBody>
                  <a:tcPr anchor="ctr">
                    <a:solidFill>
                      <a:srgbClr val="FF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RPVNet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 dirty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2D3DNet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 dirty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finding-1">
            <a:extLst>
              <a:ext uri="{FF2B5EF4-FFF2-40B4-BE49-F238E27FC236}">
                <a16:creationId xmlns:a16="http://schemas.microsoft.com/office/drawing/2014/main" id="{AA63DA05-1041-4CAA-88FE-476E1987D673}"/>
              </a:ext>
            </a:extLst>
          </p:cNvPr>
          <p:cNvSpPr>
            <a:spLocks noGrp="1"/>
          </p:cNvSpPr>
          <p:nvPr/>
        </p:nvSpPr>
        <p:spPr>
          <a:xfrm>
            <a:off x="7893565" y="2578838"/>
            <a:ext cx="3952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6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投影方法最快</a:t>
            </a: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，但精度明显偏低</a:t>
            </a:r>
            <a:endParaRPr sz="20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finding-2">
            <a:extLst>
              <a:ext uri="{FF2B5EF4-FFF2-40B4-BE49-F238E27FC236}">
                <a16:creationId xmlns:a16="http://schemas.microsoft.com/office/drawing/2014/main" id="{4C8116A2-BD79-4168-889C-F54EB23B43F4}"/>
              </a:ext>
            </a:extLst>
          </p:cNvPr>
          <p:cNvSpPr>
            <a:spLocks noGrp="1"/>
          </p:cNvSpPr>
          <p:nvPr/>
        </p:nvSpPr>
        <p:spPr>
          <a:xfrm>
            <a:off x="7978626" y="3524250"/>
            <a:ext cx="3571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650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DRINet</a:t>
            </a:r>
            <a:r>
              <a:rPr sz="2000" b="1" dirty="0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++ </a:t>
            </a: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在该比较中同时实现</a:t>
            </a:r>
            <a:r>
              <a:rPr sz="20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较高精度</a:t>
            </a: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20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较短延迟</a:t>
            </a:r>
            <a:endParaRPr sz="20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finding-caveat">
            <a:extLst>
              <a:ext uri="{FF2B5EF4-FFF2-40B4-BE49-F238E27FC236}">
                <a16:creationId xmlns:a16="http://schemas.microsoft.com/office/drawing/2014/main" id="{D85F27B2-22FB-4421-9D52-3D2792A1B9DB}"/>
              </a:ext>
            </a:extLst>
          </p:cNvPr>
          <p:cNvSpPr>
            <a:spLocks noGrp="1"/>
          </p:cNvSpPr>
          <p:nvPr/>
        </p:nvSpPr>
        <p:spPr>
          <a:xfrm>
            <a:off x="7781038" y="4647094"/>
            <a:ext cx="3952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14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不同方法使用的</a:t>
            </a:r>
            <a:r>
              <a:rPr sz="200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硬件不一致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，数据更适合判断趋势，而非绝对排名</a:t>
            </a:r>
            <a:endParaRPr sz="200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E42304-5F99-BB28-77F5-9A3A20ED7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7941" y="1391020"/>
            <a:ext cx="4085971" cy="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44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6A61483-4574-E995-A8DD-41A5F9DB82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4172" y="-50983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14" name="图片 1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-17720" y="-12000"/>
            <a:ext cx="8086205" cy="714895"/>
          </a:xfrm>
        </p:spPr>
      </p:pic>
      <p:pic>
        <p:nvPicPr>
          <p:cNvPr id="115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</p:spPr>
      </p:pic>
      <p:pic>
        <p:nvPicPr>
          <p:cNvPr id="116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sp>
        <p:nvSpPr>
          <p:cNvPr id="88" name="直线连接符 92">
            <a:extLst>
              <a:ext uri="{FF2B5EF4-FFF2-40B4-BE49-F238E27FC236}">
                <a16:creationId xmlns:a16="http://schemas.microsoft.com/office/drawing/2014/main" id="{17A987CC-BEFD-465B-B432-00ACAE5E76CB}"/>
              </a:ext>
            </a:extLst>
          </p:cNvPr>
          <p:cNvSpPr>
            <a:spLocks noGrp="1"/>
          </p:cNvSpPr>
          <p:nvPr/>
        </p:nv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线连接符 93">
            <a:extLst>
              <a:ext uri="{FF2B5EF4-FFF2-40B4-BE49-F238E27FC236}">
                <a16:creationId xmlns:a16="http://schemas.microsoft.com/office/drawing/2014/main" id="{45E9B7D6-1C46-4A28-85BD-D91D7A5AD499}"/>
              </a:ext>
            </a:extLst>
          </p:cNvPr>
          <p:cNvSpPr>
            <a:spLocks noGrp="1"/>
          </p:cNvSpPr>
          <p:nvPr/>
        </p:nv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B1103CE-5910-48FB-B618-5667C75594DD}"/>
              </a:ext>
            </a:extLst>
          </p:cNvPr>
          <p:cNvSpPr>
            <a:spLocks noGrp="1"/>
          </p:cNvSpPr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研究结论</a:t>
            </a:r>
          </a:p>
        </p:txBody>
      </p:sp>
      <p:pic>
        <p:nvPicPr>
          <p:cNvPr id="120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121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conclusion-kicker">
            <a:extLst>
              <a:ext uri="{FF2B5EF4-FFF2-40B4-BE49-F238E27FC236}">
                <a16:creationId xmlns:a16="http://schemas.microsoft.com/office/drawing/2014/main" id="{870C4368-7323-45E1-B569-59FD3BD87E61}"/>
              </a:ext>
            </a:extLst>
          </p:cNvPr>
          <p:cNvSpPr>
            <a:spLocks noGrp="1"/>
          </p:cNvSpPr>
          <p:nvPr/>
        </p:nvSpPr>
        <p:spPr>
          <a:xfrm>
            <a:off x="594534" y="97332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7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  <a:r>
              <a:rPr sz="2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2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得到的</a:t>
            </a:r>
            <a:r>
              <a:rPr sz="24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四点认识</a:t>
            </a:r>
            <a:endParaRPr sz="24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conclusion-num-0">
            <a:extLst>
              <a:ext uri="{FF2B5EF4-FFF2-40B4-BE49-F238E27FC236}">
                <a16:creationId xmlns:a16="http://schemas.microsoft.com/office/drawing/2014/main" id="{C7BC165E-6DA8-43B8-9681-B05F07F4E87C}"/>
              </a:ext>
            </a:extLst>
          </p:cNvPr>
          <p:cNvSpPr>
            <a:spLocks noGrp="1"/>
          </p:cNvSpPr>
          <p:nvPr/>
        </p:nvSpPr>
        <p:spPr>
          <a:xfrm>
            <a:off x="1014077" y="1617256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7" name="conclusion-title-0">
            <a:extLst>
              <a:ext uri="{FF2B5EF4-FFF2-40B4-BE49-F238E27FC236}">
                <a16:creationId xmlns:a16="http://schemas.microsoft.com/office/drawing/2014/main" id="{3892CB96-5799-495C-B5C2-528490FD0C51}"/>
              </a:ext>
            </a:extLst>
          </p:cNvPr>
          <p:cNvSpPr>
            <a:spLocks noGrp="1"/>
          </p:cNvSpPr>
          <p:nvPr/>
        </p:nvSpPr>
        <p:spPr>
          <a:xfrm>
            <a:off x="1918952" y="1666875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87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速度与精度存在结构性权衡</a:t>
            </a:r>
            <a:endParaRPr sz="20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conclusion-desc-0">
            <a:extLst>
              <a:ext uri="{FF2B5EF4-FFF2-40B4-BE49-F238E27FC236}">
                <a16:creationId xmlns:a16="http://schemas.microsoft.com/office/drawing/2014/main" id="{1F379FD4-7FEC-44D8-B259-25AD39969C3E}"/>
              </a:ext>
            </a:extLst>
          </p:cNvPr>
          <p:cNvSpPr>
            <a:spLocks noGrp="1"/>
          </p:cNvSpPr>
          <p:nvPr/>
        </p:nvSpPr>
        <p:spPr>
          <a:xfrm>
            <a:off x="6348077" y="1666875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5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投影路线更快，3D 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路线通常更准</a:t>
            </a:r>
            <a:endParaRPr sz="200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conclusion-num-1">
            <a:extLst>
              <a:ext uri="{FF2B5EF4-FFF2-40B4-BE49-F238E27FC236}">
                <a16:creationId xmlns:a16="http://schemas.microsoft.com/office/drawing/2014/main" id="{3C5E4404-6BFF-4FD0-A827-7E4D741F310F}"/>
              </a:ext>
            </a:extLst>
          </p:cNvPr>
          <p:cNvSpPr>
            <a:spLocks noGrp="1"/>
          </p:cNvSpPr>
          <p:nvPr/>
        </p:nvSpPr>
        <p:spPr>
          <a:xfrm>
            <a:off x="1014077" y="2591023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0" name="conclusion-title-1">
            <a:extLst>
              <a:ext uri="{FF2B5EF4-FFF2-40B4-BE49-F238E27FC236}">
                <a16:creationId xmlns:a16="http://schemas.microsoft.com/office/drawing/2014/main" id="{893D45AB-1027-4663-B5B5-EBC0229F3982}"/>
              </a:ext>
            </a:extLst>
          </p:cNvPr>
          <p:cNvSpPr>
            <a:spLocks noGrp="1"/>
          </p:cNvSpPr>
          <p:nvPr/>
        </p:nvSpPr>
        <p:spPr>
          <a:xfrm>
            <a:off x="1918952" y="2619375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87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多表示融合是最清晰的演进方向</a:t>
            </a:r>
            <a:endParaRPr sz="20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conclusion-desc-1">
            <a:extLst>
              <a:ext uri="{FF2B5EF4-FFF2-40B4-BE49-F238E27FC236}">
                <a16:creationId xmlns:a16="http://schemas.microsoft.com/office/drawing/2014/main" id="{9EE8E7D9-E6C7-4030-9F5E-AA30E63A9927}"/>
              </a:ext>
            </a:extLst>
          </p:cNvPr>
          <p:cNvSpPr>
            <a:spLocks noGrp="1"/>
          </p:cNvSpPr>
          <p:nvPr/>
        </p:nvSpPr>
        <p:spPr>
          <a:xfrm>
            <a:off x="6348077" y="2619375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5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领先方法普遍融合点、体素或投影视图</a:t>
            </a:r>
            <a:endParaRPr sz="200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conclusion-num-2">
            <a:extLst>
              <a:ext uri="{FF2B5EF4-FFF2-40B4-BE49-F238E27FC236}">
                <a16:creationId xmlns:a16="http://schemas.microsoft.com/office/drawing/2014/main" id="{A4D93B5C-8011-4A88-AD18-94E4E35A7908}"/>
              </a:ext>
            </a:extLst>
          </p:cNvPr>
          <p:cNvSpPr>
            <a:spLocks noGrp="1"/>
          </p:cNvSpPr>
          <p:nvPr/>
        </p:nvSpPr>
        <p:spPr>
          <a:xfrm>
            <a:off x="1014077" y="3529347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3" name="conclusion-title-2">
            <a:extLst>
              <a:ext uri="{FF2B5EF4-FFF2-40B4-BE49-F238E27FC236}">
                <a16:creationId xmlns:a16="http://schemas.microsoft.com/office/drawing/2014/main" id="{6BBB4A97-4FDC-401A-984C-81C185CD8AE2}"/>
              </a:ext>
            </a:extLst>
          </p:cNvPr>
          <p:cNvSpPr>
            <a:spLocks noGrp="1"/>
          </p:cNvSpPr>
          <p:nvPr/>
        </p:nvSpPr>
        <p:spPr>
          <a:xfrm>
            <a:off x="1918952" y="3571875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87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参数量不能直接代表推理速度</a:t>
            </a:r>
            <a:endParaRPr sz="20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conclusion-desc-2">
            <a:extLst>
              <a:ext uri="{FF2B5EF4-FFF2-40B4-BE49-F238E27FC236}">
                <a16:creationId xmlns:a16="http://schemas.microsoft.com/office/drawing/2014/main" id="{12241B58-1FC4-4E7C-8DD3-07963F3F3675}"/>
              </a:ext>
            </a:extLst>
          </p:cNvPr>
          <p:cNvSpPr>
            <a:spLocks noGrp="1"/>
          </p:cNvSpPr>
          <p:nvPr/>
        </p:nvSpPr>
        <p:spPr>
          <a:xfrm>
            <a:off x="6348077" y="3571875"/>
            <a:ext cx="519887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5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并行多分支可能增加参数，但未必等比例增加延迟</a:t>
            </a:r>
            <a:endParaRPr sz="200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conclusion-num-3">
            <a:extLst>
              <a:ext uri="{FF2B5EF4-FFF2-40B4-BE49-F238E27FC236}">
                <a16:creationId xmlns:a16="http://schemas.microsoft.com/office/drawing/2014/main" id="{3B736A51-535B-4BAC-B536-48076B3FB9E1}"/>
              </a:ext>
            </a:extLst>
          </p:cNvPr>
          <p:cNvSpPr>
            <a:spLocks noGrp="1"/>
          </p:cNvSpPr>
          <p:nvPr/>
        </p:nvSpPr>
        <p:spPr>
          <a:xfrm>
            <a:off x="1014077" y="4481846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2250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6" name="conclusion-title-3">
            <a:extLst>
              <a:ext uri="{FF2B5EF4-FFF2-40B4-BE49-F238E27FC236}">
                <a16:creationId xmlns:a16="http://schemas.microsoft.com/office/drawing/2014/main" id="{B823D387-B827-4AEE-AA03-002A65C54FA1}"/>
              </a:ext>
            </a:extLst>
          </p:cNvPr>
          <p:cNvSpPr>
            <a:spLocks noGrp="1"/>
          </p:cNvSpPr>
          <p:nvPr/>
        </p:nvSpPr>
        <p:spPr>
          <a:xfrm>
            <a:off x="1918952" y="4524375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>
              <a:buNone/>
              <a:defRPr sz="1875" b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082B5C"/>
                </a:solidFill>
                <a:latin typeface="Microsoft YaHei"/>
                <a:ea typeface="Microsoft YaHei"/>
                <a:cs typeface="Microsoft YaHei"/>
              </a:rPr>
              <a:t>数据规模与多样性仍是瓶颈</a:t>
            </a:r>
            <a:endParaRPr sz="2000" b="1" dirty="0">
              <a:solidFill>
                <a:srgbClr val="082B5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conclusion-desc-3">
            <a:extLst>
              <a:ext uri="{FF2B5EF4-FFF2-40B4-BE49-F238E27FC236}">
                <a16:creationId xmlns:a16="http://schemas.microsoft.com/office/drawing/2014/main" id="{3E1E7B2E-2DA7-45A2-BC1C-349B1FF7FA56}"/>
              </a:ext>
            </a:extLst>
          </p:cNvPr>
          <p:cNvSpPr>
            <a:spLocks noGrp="1"/>
          </p:cNvSpPr>
          <p:nvPr/>
        </p:nvSpPr>
        <p:spPr>
          <a:xfrm>
            <a:off x="6348077" y="4524375"/>
            <a:ext cx="5120906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>
              <a:buNone/>
              <a:defRPr sz="15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2D 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监督与合成数据暴露出当前</a:t>
            </a:r>
            <a:r>
              <a:rPr sz="200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3D </a:t>
            </a:r>
            <a:r>
              <a:rPr sz="200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数据不足</a:t>
            </a:r>
            <a:endParaRPr sz="200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conclusion-thesis">
            <a:extLst>
              <a:ext uri="{FF2B5EF4-FFF2-40B4-BE49-F238E27FC236}">
                <a16:creationId xmlns:a16="http://schemas.microsoft.com/office/drawing/2014/main" id="{032337B5-5205-41D6-90DE-FAC79EE4CE0D}"/>
              </a:ext>
            </a:extLst>
          </p:cNvPr>
          <p:cNvSpPr>
            <a:spLocks noGrp="1"/>
          </p:cNvSpPr>
          <p:nvPr/>
        </p:nvSpPr>
        <p:spPr>
          <a:xfrm>
            <a:off x="1381125" y="557212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buNone/>
              <a:defRPr sz="1875" b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47A20"/>
                </a:solidFill>
                <a:latin typeface="Microsoft YaHei"/>
                <a:ea typeface="Microsoft YaHei"/>
                <a:cs typeface="Microsoft YaHei"/>
              </a:rPr>
              <a:t>核心结论：未来性能提升越来越依赖“表示、数据、时序”三方面协同</a:t>
            </a:r>
            <a:endParaRPr sz="2000" b="1" dirty="0">
              <a:solidFill>
                <a:srgbClr val="F47A2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62571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D20241A-2410-41DE-97D2-ED60C8A03BC8}"/>
              </a:ext>
            </a:extLst>
          </p:cNvPr>
          <p:cNvSpPr>
            <a:spLocks noGrp="1"/>
          </p:cNvSpPr>
          <p:nvPr/>
        </p:nvSpPr>
        <p:spPr>
          <a:xfrm>
            <a:off x="519545" y="581892"/>
            <a:ext cx="11170227" cy="5777345"/>
          </a:xfrm>
          <a:prstGeom prst="rect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直线连接符 4">
            <a:extLst>
              <a:ext uri="{FF2B5EF4-FFF2-40B4-BE49-F238E27FC236}">
                <a16:creationId xmlns:a16="http://schemas.microsoft.com/office/drawing/2014/main" id="{A85B58CD-CD9E-4A04-B8A2-7320929C9B96}"/>
              </a:ext>
            </a:extLst>
          </p:cNvPr>
          <p:cNvSpPr>
            <a:spLocks noGrp="1"/>
          </p:cNvSpPr>
          <p:nvPr/>
        </p:nvSpPr>
        <p:spPr>
          <a:xfrm>
            <a:off x="4571160" y="4189051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线连接符 207">
            <a:extLst>
              <a:ext uri="{FF2B5EF4-FFF2-40B4-BE49-F238E27FC236}">
                <a16:creationId xmlns:a16="http://schemas.microsoft.com/office/drawing/2014/main" id="{EC690BA3-DF11-4691-8B1E-1201D57F2667}"/>
              </a:ext>
            </a:extLst>
          </p:cNvPr>
          <p:cNvSpPr>
            <a:spLocks noGrp="1"/>
          </p:cNvSpPr>
          <p:nvPr/>
        </p:nvSpPr>
        <p:spPr>
          <a:xfrm>
            <a:off x="4571160" y="4664180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线连接符 12">
            <a:extLst>
              <a:ext uri="{FF2B5EF4-FFF2-40B4-BE49-F238E27FC236}">
                <a16:creationId xmlns:a16="http://schemas.microsoft.com/office/drawing/2014/main" id="{7669DECD-EAB6-4372-BEDD-96D0E4C7C4A2}"/>
              </a:ext>
            </a:extLst>
          </p:cNvPr>
          <p:cNvSpPr>
            <a:spLocks noGrp="1"/>
          </p:cNvSpPr>
          <p:nvPr/>
        </p:nvSpPr>
        <p:spPr>
          <a:xfrm>
            <a:off x="3985111" y="2420939"/>
            <a:ext cx="0" cy="22701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6" name="图片 80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90989" y="2059601"/>
            <a:ext cx="2857500" cy="28575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DD08E35-2FEA-47BA-AA47-EE796FA289B2}"/>
              </a:ext>
            </a:extLst>
          </p:cNvPr>
          <p:cNvSpPr>
            <a:spLocks noGrp="1"/>
          </p:cNvSpPr>
          <p:nvPr/>
        </p:nvSpPr>
        <p:spPr>
          <a:xfrm>
            <a:off x="5299331" y="2064226"/>
            <a:ext cx="50897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0" b="1" i="1" u="none" cap="none" spc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latin typeface="微软雅黑"/>
                <a:ea typeface="微软雅黑"/>
                <a:cs typeface="微软雅黑"/>
              </a:rPr>
              <a:t>THANKS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0E22E5-CAD9-4371-BC12-EDDB3C77EFE7}"/>
              </a:ext>
            </a:extLst>
          </p:cNvPr>
          <p:cNvSpPr>
            <a:spLocks noGrp="1"/>
          </p:cNvSpPr>
          <p:nvPr/>
        </p:nvSpPr>
        <p:spPr>
          <a:xfrm>
            <a:off x="4471097" y="2402942"/>
            <a:ext cx="5109091" cy="17148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 u="none" cap="none" spc="0">
                <a:ln>
                  <a:noFill/>
                </a:ln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谢谢大家</a:t>
            </a:r>
          </a:p>
        </p:txBody>
      </p:sp>
      <p:pic>
        <p:nvPicPr>
          <p:cNvPr id="89" name="图片 14"/>
          <p:cNvPicPr>
            <a:picLocks noChangeAspect="1"/>
          </p:cNvPicPr>
          <p:nvPr/>
        </p:nvPicPr>
        <p:blipFill rotWithShape="1">
          <a:blip r:embed="rId5">
            <a:biLevel thresh="25000"/>
          </a:blip>
          <a:srcRect l="25602"/>
          <a:stretch>
            <a:fillRect/>
          </a:stretch>
        </p:blipFill>
        <p:spPr>
          <a:xfrm>
            <a:off x="898544" y="887168"/>
            <a:ext cx="2279311" cy="673670"/>
          </a:xfrm>
          <a:prstGeom prst="rect">
            <a:avLst/>
          </a:prstGeom>
        </p:spPr>
      </p:pic>
      <p:sp>
        <p:nvSpPr>
          <p:cNvPr id="16" name="副标题 2">
            <a:extLst>
              <a:ext uri="{FF2B5EF4-FFF2-40B4-BE49-F238E27FC236}">
                <a16:creationId xmlns:a16="http://schemas.microsoft.com/office/drawing/2014/main" id="{673B17B8-4967-4EE7-8917-812DA538CA7B}"/>
              </a:ext>
            </a:extLst>
          </p:cNvPr>
          <p:cNvSpPr>
            <a:spLocks noGrp="1"/>
          </p:cNvSpPr>
          <p:nvPr/>
        </p:nvSpPr>
        <p:spPr>
          <a:xfrm>
            <a:off x="2452443" y="5858895"/>
            <a:ext cx="7287114" cy="457696"/>
          </a:xfrm>
          <a:prstGeom prst="rect">
            <a:avLst/>
          </a:prstGeom>
        </p:spPr>
        <p:txBody>
          <a:bodyPr/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600">
                <a:ln>
                  <a:noFill/>
                </a:ln>
                <a:solidFill>
                  <a:prstClr val="white"/>
                </a:solidFill>
                <a:latin typeface="方正小标宋简体"/>
                <a:ea typeface="方正小标宋简体"/>
                <a:cs typeface="方正小标宋简体"/>
              </a:rPr>
              <a:t>-  艰苦创业  开拓创新  争创一流  -</a:t>
            </a:r>
          </a:p>
        </p:txBody>
      </p:sp>
    </p:spTree>
    <p:extLst>
      <p:ext uri="{BB962C8B-B14F-4D97-AF65-F5344CB8AC3E}">
        <p14:creationId xmlns:p14="http://schemas.microsoft.com/office/powerpoint/2010/main" val="15663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912</Words>
  <Application>Microsoft Office PowerPoint</Application>
  <DocSecurity>0</DocSecurity>
  <PresentationFormat>宽屏</PresentationFormat>
  <Paragraphs>225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-apple-system</vt:lpstr>
      <vt:lpstr>等线</vt:lpstr>
      <vt:lpstr>等线 Light</vt:lpstr>
      <vt:lpstr>方正小标宋简体</vt:lpstr>
      <vt:lpstr>Microsoft YaHei</vt:lpstr>
      <vt:lpstr>Microsoft YaHei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 昊</cp:lastModifiedBy>
  <cp:revision>8</cp:revision>
  <dcterms:created xsi:type="dcterms:W3CDTF">2026-07-01T13:59:20Z</dcterms:created>
  <dcterms:modified xsi:type="dcterms:W3CDTF">2026-07-10T02:30:06Z</dcterms:modified>
</cp:coreProperties>
</file>