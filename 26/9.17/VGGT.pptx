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98" r:id="rId3"/>
    <p:sldId id="258" r:id="rId4"/>
    <p:sldId id="281" r:id="rId5"/>
    <p:sldId id="284" r:id="rId6"/>
    <p:sldId id="292" r:id="rId7"/>
    <p:sldId id="285" r:id="rId8"/>
    <p:sldId id="293" r:id="rId9"/>
    <p:sldId id="262" r:id="rId10"/>
    <p:sldId id="296" r:id="rId11"/>
    <p:sldId id="276" r:id="rId12"/>
    <p:sldId id="290" r:id="rId13"/>
    <p:sldId id="297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01" autoAdjust="0"/>
  </p:normalViewPr>
  <p:slideViewPr>
    <p:cSldViewPr snapToGrid="0">
      <p:cViewPr varScale="1">
        <p:scale>
          <a:sx n="84" d="100"/>
          <a:sy n="84" d="100"/>
        </p:scale>
        <p:origin x="106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78FDA-50DF-44B5-9FBA-F96BB1FB82B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D29A7-0808-4104-8F67-C229520D7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800" dirty="0"/>
              <a:t>今天我汇报的论文是</a:t>
            </a:r>
            <a:r>
              <a:rPr lang="en-US" altLang="zh-CN" sz="800" dirty="0"/>
              <a:t>VGGT</a:t>
            </a:r>
            <a:r>
              <a:rPr lang="zh-CN" altLang="en-US" sz="800" dirty="0"/>
              <a:t>，也就是视觉几何基础</a:t>
            </a:r>
            <a:r>
              <a:rPr lang="en-US" altLang="zh-CN" sz="800" dirty="0"/>
              <a:t>Transformer</a:t>
            </a:r>
            <a:r>
              <a:rPr lang="zh-CN" altLang="en-US" sz="800" dirty="0"/>
              <a:t>，</a:t>
            </a:r>
            <a:r>
              <a:rPr lang="zh-CN" altLang="zh-CN" sz="800" dirty="0"/>
              <a:t>这篇论文主要关注的是 3D 视觉重建问题。简单来说，就是给定同一个场景的一张、几张，甚至上百张图像，模型能不能直接推理出这个场景的三维几何信息，比如相机参数、深度图、点云以及点的跨图像轨迹</a:t>
            </a: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E12058-ED5C-4B87-B87C-1194BC0503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首先看研究背景</a:t>
            </a:r>
            <a:r>
              <a:rPr lang="zh-CN" altLang="en-US" dirty="0"/>
              <a:t>，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4" y="-194569"/>
            <a:ext cx="3455246" cy="345524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741101" y="2795450"/>
            <a:ext cx="8698792" cy="2260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VGGT: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Visual Geometry Grounded Transformer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VGGT：</a:t>
            </a:r>
            <a:r>
              <a:rPr kumimoji="0" lang="zh-CN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视觉几何基础 Transformer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4182432" y="5460729"/>
            <a:ext cx="3816132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汇报人：陈昊</a:t>
            </a: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  </a:t>
            </a: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06495" y="6215638"/>
            <a:ext cx="13740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Microsoft YaHei"/>
              </a:rPr>
              <a:t>2026.06.16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75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研究背景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62712" y="911352"/>
            <a:ext cx="7976477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>
                <a:solidFill>
                  <a:srgbClr val="002D58"/>
                </a:solidFill>
                <a:latin typeface="Microsoft YaHei"/>
              </a:rPr>
              <a:t>3D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视觉重建：从</a:t>
            </a:r>
            <a:r>
              <a:rPr lang="zh-CN" altLang="en-US" sz="2400" b="1" dirty="0">
                <a:solidFill>
                  <a:srgbClr val="002D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图像集合恢复场景的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几何属性</a:t>
            </a:r>
            <a:endParaRPr sz="2400" b="1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419100" y="158343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/>
          </a:p>
        </p:txBody>
      </p:sp>
      <p:sp>
        <p:nvSpPr>
          <p:cNvPr id="94" name="TextBox 93"/>
          <p:cNvSpPr txBox="1"/>
          <p:nvPr/>
        </p:nvSpPr>
        <p:spPr>
          <a:xfrm>
            <a:off x="620268" y="1463040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输入：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同一静态场景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的一张、少量或数百张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RGB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图像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419100" y="2394204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0268" y="228142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目标：同时估计相机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内外参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、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深度图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、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点图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和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3D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点轨迹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419100" y="3235452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20268" y="3130296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应用：三维重建、机器人感知、AR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/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VR、自动驾驶与新视角合成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640080" y="4160520"/>
            <a:ext cx="10332720" cy="713232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100" b="1" dirty="0">
                <a:solidFill>
                  <a:srgbClr val="232A32"/>
                </a:solidFill>
                <a:latin typeface="Microsoft YaHei"/>
              </a:rPr>
              <a:t>VGGT </a:t>
            </a:r>
            <a:r>
              <a:rPr sz="2100" b="1" dirty="0" err="1">
                <a:solidFill>
                  <a:srgbClr val="232A32"/>
                </a:solidFill>
                <a:latin typeface="Microsoft YaHei"/>
              </a:rPr>
              <a:t>试图把多个</a:t>
            </a:r>
            <a:r>
              <a:rPr sz="2100" b="1" dirty="0">
                <a:solidFill>
                  <a:srgbClr val="232A32"/>
                </a:solidFill>
                <a:latin typeface="Microsoft YaHei"/>
              </a:rPr>
              <a:t> 3D </a:t>
            </a:r>
            <a:r>
              <a:rPr sz="2100" b="1" dirty="0" err="1">
                <a:solidFill>
                  <a:srgbClr val="232A32"/>
                </a:solidFill>
                <a:latin typeface="Microsoft YaHei"/>
              </a:rPr>
              <a:t>任务统一到一个</a:t>
            </a:r>
            <a:r>
              <a:rPr sz="2100" b="1" dirty="0" err="1">
                <a:solidFill>
                  <a:srgbClr val="FF0000"/>
                </a:solidFill>
                <a:latin typeface="Microsoft YaHei"/>
              </a:rPr>
              <a:t>前馈网络</a:t>
            </a:r>
            <a:r>
              <a:rPr sz="2100" b="1" dirty="0" err="1">
                <a:solidFill>
                  <a:srgbClr val="232A32"/>
                </a:solidFill>
                <a:latin typeface="Microsoft YaHei"/>
              </a:rPr>
              <a:t>中</a:t>
            </a:r>
            <a:endParaRPr sz="21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1455420" y="5105400"/>
            <a:ext cx="1828800" cy="749808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>
                <a:solidFill>
                  <a:srgbClr val="ED7D31"/>
                </a:solidFill>
                <a:latin typeface="Arial"/>
              </a:rPr>
              <a:t>1~100</a:t>
            </a:r>
            <a:r>
              <a:rPr lang="zh-CN" altLang="en-US" sz="2500" b="1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张</a:t>
            </a:r>
            <a:endParaRPr sz="2500" b="1" dirty="0">
              <a:solidFill>
                <a:srgbClr val="ED7D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输入规模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3832860" y="5105400"/>
            <a:ext cx="1828800" cy="749808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>
                <a:solidFill>
                  <a:srgbClr val="ED7D31"/>
                </a:solidFill>
                <a:latin typeface="Arial"/>
              </a:rPr>
              <a:t>4类</a:t>
            </a: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输出类型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6210300" y="5105400"/>
            <a:ext cx="1828800" cy="749808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 err="1">
                <a:solidFill>
                  <a:srgbClr val="ED7D31"/>
                </a:solidFill>
                <a:latin typeface="Arial"/>
              </a:rPr>
              <a:t>一次前向</a:t>
            </a:r>
            <a:endParaRPr sz="2500" b="1" dirty="0">
              <a:solidFill>
                <a:srgbClr val="ED7D31"/>
              </a:solidFill>
              <a:latin typeface="Arial"/>
            </a:endParaRP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推理方式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8587740" y="5105400"/>
            <a:ext cx="1828800" cy="749808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 err="1">
                <a:solidFill>
                  <a:srgbClr val="ED7D31"/>
                </a:solidFill>
                <a:latin typeface="Arial"/>
              </a:rPr>
              <a:t>秒级</a:t>
            </a:r>
            <a:endParaRPr sz="2500" b="1" dirty="0">
              <a:solidFill>
                <a:srgbClr val="ED7D31"/>
              </a:solidFill>
              <a:latin typeface="Arial"/>
            </a:endParaRP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目标速度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E37191-3E58-AFFE-B72D-11D8E2318E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376171"/>
            <a:ext cx="5875020" cy="2683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研究背景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78992" y="1002792"/>
            <a:ext cx="825550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传统方法：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视觉几何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优化流程准确，但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复杂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且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耗时</a:t>
            </a:r>
            <a:endParaRPr sz="2400" b="1" dirty="0">
              <a:solidFill>
                <a:srgbClr val="FF0000"/>
              </a:solidFill>
              <a:latin typeface="Microsoft YaHei"/>
            </a:endParaRPr>
          </a:p>
        </p:txBody>
      </p:sp>
      <p:cxnSp>
        <p:nvCxnSpPr>
          <p:cNvPr id="93" name="Connector 92"/>
          <p:cNvCxnSpPr/>
          <p:nvPr/>
        </p:nvCxnSpPr>
        <p:spPr>
          <a:xfrm>
            <a:off x="1981200" y="2270760"/>
            <a:ext cx="164592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533899" y="2270760"/>
            <a:ext cx="1645921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01840" y="2270760"/>
            <a:ext cx="1645919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1097280" y="1767840"/>
            <a:ext cx="1920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 err="1">
                <a:solidFill>
                  <a:srgbClr val="FF0000"/>
                </a:solidFill>
                <a:latin typeface="Microsoft YaHei"/>
              </a:rPr>
              <a:t>图像匹配</a:t>
            </a:r>
            <a:r>
              <a:rPr sz="1600" b="1" dirty="0">
                <a:solidFill>
                  <a:srgbClr val="232A32"/>
                </a:solidFill>
                <a:latin typeface="Microsoft YaHei"/>
              </a:rPr>
              <a:t>
</a:t>
            </a:r>
            <a:r>
              <a:rPr sz="1600" b="1" dirty="0" err="1">
                <a:solidFill>
                  <a:srgbClr val="232A32"/>
                </a:solidFill>
                <a:latin typeface="Microsoft YaHei"/>
              </a:rPr>
              <a:t>寻找跨视角对应点</a:t>
            </a:r>
            <a:endParaRPr sz="16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3657600" y="1767840"/>
            <a:ext cx="1920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 err="1">
                <a:solidFill>
                  <a:srgbClr val="FF0000"/>
                </a:solidFill>
                <a:latin typeface="Microsoft YaHei"/>
              </a:rPr>
              <a:t>三角化</a:t>
            </a:r>
            <a:r>
              <a:rPr sz="1600" b="1" dirty="0">
                <a:solidFill>
                  <a:srgbClr val="232A32"/>
                </a:solidFill>
                <a:latin typeface="Microsoft YaHei"/>
              </a:rPr>
              <a:t>
恢复稀疏3D点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17920" y="1767840"/>
            <a:ext cx="1920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>
                <a:solidFill>
                  <a:srgbClr val="FF0000"/>
                </a:solidFill>
                <a:latin typeface="Microsoft YaHei"/>
              </a:rPr>
              <a:t>Bundle Adjustment</a:t>
            </a:r>
            <a:r>
              <a:rPr sz="1600" b="1" dirty="0">
                <a:solidFill>
                  <a:srgbClr val="232A32"/>
                </a:solidFill>
                <a:latin typeface="Microsoft YaHei"/>
              </a:rPr>
              <a:t>
</a:t>
            </a:r>
            <a:r>
              <a:rPr sz="1600" b="1" dirty="0" err="1">
                <a:solidFill>
                  <a:srgbClr val="232A32"/>
                </a:solidFill>
                <a:latin typeface="Microsoft YaHei"/>
              </a:rPr>
              <a:t>联合优化相机与点</a:t>
            </a:r>
            <a:endParaRPr sz="16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8778240" y="1767840"/>
            <a:ext cx="19202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 dirty="0" err="1">
                <a:solidFill>
                  <a:srgbClr val="FF0000"/>
                </a:solidFill>
                <a:latin typeface="Microsoft YaHei"/>
              </a:rPr>
              <a:t>稠密重建</a:t>
            </a:r>
            <a:r>
              <a:rPr sz="1600" b="1" dirty="0">
                <a:solidFill>
                  <a:srgbClr val="232A32"/>
                </a:solidFill>
                <a:latin typeface="Microsoft YaHei"/>
              </a:rPr>
              <a:t>
MVS / </a:t>
            </a:r>
            <a:r>
              <a:rPr sz="1600" b="1" dirty="0" err="1">
                <a:solidFill>
                  <a:srgbClr val="232A32"/>
                </a:solidFill>
                <a:latin typeface="Microsoft YaHei"/>
              </a:rPr>
              <a:t>点云补全</a:t>
            </a:r>
            <a:endParaRPr sz="16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1120140" y="326745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321308" y="3185160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SfM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/MVS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依赖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手工流程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迭代优化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，工程链条长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120140" y="4123944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321308" y="4041648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深度学习通常只增强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特征匹配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、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单目深度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等局部模块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1120140" y="5041392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321308" y="4959096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>
                <a:solidFill>
                  <a:srgbClr val="232A32"/>
                </a:solidFill>
                <a:latin typeface="Microsoft YaHei"/>
              </a:rPr>
              <a:t>BA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等优化步骤带来高精度，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但推理速度与系统复杂度受限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039100" y="3413760"/>
            <a:ext cx="3017520" cy="1280160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100" b="1">
                <a:solidFill>
                  <a:srgbClr val="232A32"/>
                </a:solidFill>
                <a:latin typeface="Microsoft YaHei"/>
              </a:rPr>
              <a:t>核心瓶颈：
后处理优化成本高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研究背景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49452" y="865632"/>
            <a:ext cx="847648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本文要回答的问题：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神经网络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能否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直接完成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3D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几何推理</a:t>
            </a:r>
            <a:r>
              <a:rPr sz="2000" b="1" dirty="0">
                <a:solidFill>
                  <a:srgbClr val="002D58"/>
                </a:solidFill>
                <a:latin typeface="Microsoft YaHei"/>
              </a:rPr>
              <a:t>？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05840" y="1417320"/>
            <a:ext cx="10149840" cy="685800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400" b="1">
                <a:solidFill>
                  <a:srgbClr val="ED7D31"/>
                </a:solidFill>
                <a:latin typeface="Microsoft YaHei"/>
              </a:rPr>
              <a:t>Can 3D tasks be solved directly by a neural network?</a:t>
            </a:r>
          </a:p>
        </p:txBody>
      </p:sp>
      <p:sp>
        <p:nvSpPr>
          <p:cNvPr id="94" name="Oval 93"/>
          <p:cNvSpPr/>
          <p:nvPr/>
        </p:nvSpPr>
        <p:spPr>
          <a:xfrm>
            <a:off x="914400" y="259689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15568" y="2514600"/>
            <a:ext cx="69037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不再把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神经网络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只作为传统几何流程的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辅助模块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914400" y="321868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15568" y="3136392"/>
            <a:ext cx="69037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让一个大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Transformer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直接学习多视图几何关系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914400" y="386334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15568" y="3781044"/>
            <a:ext cx="69037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在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无需后优化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的情况下，输出可直接使用的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3D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结果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914400" y="4767071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115568" y="4684775"/>
            <a:ext cx="69037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再验证：若结合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BA，是否还能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进一步刷新性能上限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8458200" y="2423160"/>
            <a:ext cx="1828800" cy="86868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 err="1">
                <a:solidFill>
                  <a:srgbClr val="ED7D31"/>
                </a:solidFill>
                <a:latin typeface="Arial"/>
              </a:rPr>
              <a:t>模型</a:t>
            </a:r>
            <a:endParaRPr sz="2500" b="1" dirty="0">
              <a:solidFill>
                <a:srgbClr val="ED7D31"/>
              </a:solidFill>
              <a:latin typeface="Arial"/>
            </a:endParaRP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论文贡献</a:t>
            </a:r>
            <a:r>
              <a:rPr sz="1300" b="1" dirty="0">
                <a:solidFill>
                  <a:srgbClr val="232A32"/>
                </a:solidFill>
                <a:latin typeface="Microsoft YaHei"/>
              </a:rPr>
              <a:t> 1</a:t>
            </a:r>
          </a:p>
          <a:p>
            <a:pPr algn="ctr"/>
            <a:r>
              <a:rPr sz="1050" dirty="0" err="1">
                <a:solidFill>
                  <a:srgbClr val="5B6370"/>
                </a:solidFill>
                <a:latin typeface="Microsoft YaHei"/>
              </a:rPr>
              <a:t>统一多任务</a:t>
            </a:r>
            <a:endParaRPr sz="1050" dirty="0">
              <a:solidFill>
                <a:srgbClr val="5B6370"/>
              </a:solidFill>
              <a:latin typeface="Microsoft YaHei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8458200" y="3456432"/>
            <a:ext cx="1828800" cy="86868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>
                <a:solidFill>
                  <a:srgbClr val="ED7D31"/>
                </a:solidFill>
                <a:latin typeface="Arial"/>
              </a:rPr>
              <a:t>效果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Microsoft YaHei"/>
              </a:rPr>
              <a:t>论文贡献 2</a:t>
            </a:r>
          </a:p>
          <a:p>
            <a:pPr algn="ctr"/>
            <a:r>
              <a:rPr sz="1050">
                <a:solidFill>
                  <a:srgbClr val="5B6370"/>
                </a:solidFill>
                <a:latin typeface="Microsoft YaHei"/>
              </a:rPr>
              <a:t>无需后处理也强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58200" y="4489704"/>
            <a:ext cx="1828800" cy="868680"/>
          </a:xfrm>
          <a:prstGeom prst="roundRect">
            <a:avLst/>
          </a:prstGeom>
          <a:solidFill>
            <a:srgbClr val="E2EEFA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>
                <a:solidFill>
                  <a:srgbClr val="ED7D31"/>
                </a:solidFill>
                <a:latin typeface="Arial"/>
              </a:rPr>
              <a:t>扩展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Microsoft YaHei"/>
              </a:rPr>
              <a:t>论文贡献 3</a:t>
            </a:r>
          </a:p>
          <a:p>
            <a:pPr algn="ctr"/>
            <a:r>
              <a:rPr sz="1050">
                <a:solidFill>
                  <a:srgbClr val="5B6370"/>
                </a:solidFill>
                <a:latin typeface="Microsoft YaHei"/>
              </a:rPr>
              <a:t>结合 BA 达 SOTA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147572" y="850392"/>
            <a:ext cx="916990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总体框架：VGGT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用</a:t>
            </a:r>
            <a:r>
              <a:rPr sz="2400" b="1" dirty="0">
                <a:solidFill>
                  <a:srgbClr val="FF0000"/>
                </a:solidFill>
                <a:latin typeface="Microsoft YaHei"/>
              </a:rPr>
              <a:t>一次前向传播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预测</a:t>
            </a:r>
            <a:r>
              <a:rPr sz="2400" b="1" dirty="0">
                <a:solidFill>
                  <a:srgbClr val="FF0000"/>
                </a:solidFill>
                <a:latin typeface="Microsoft YaHei"/>
              </a:rPr>
              <a:t>全部3D属性</a:t>
            </a:r>
          </a:p>
        </p:txBody>
      </p:sp>
      <p:sp>
        <p:nvSpPr>
          <p:cNvPr id="94" name="Oval 93"/>
          <p:cNvSpPr/>
          <p:nvPr/>
        </p:nvSpPr>
        <p:spPr>
          <a:xfrm>
            <a:off x="1135380" y="470763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336548" y="4625340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>
                <a:solidFill>
                  <a:srgbClr val="FF0000"/>
                </a:solidFill>
                <a:latin typeface="Microsoft YaHei"/>
              </a:rPr>
              <a:t>DINO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将每张图像切分为</a:t>
            </a:r>
            <a:r>
              <a:rPr lang="en-US" sz="2400" b="0" dirty="0" err="1">
                <a:solidFill>
                  <a:srgbClr val="FF0000"/>
                </a:solidFill>
                <a:latin typeface="Microsoft YaHei"/>
              </a:rPr>
              <a:t>i</a:t>
            </a:r>
            <a:r>
              <a:rPr lang="en-US" sz="2400" dirty="0" err="1">
                <a:solidFill>
                  <a:srgbClr val="FF0000"/>
                </a:solidFill>
                <a:latin typeface="Microsoft YaHei"/>
              </a:rPr>
              <a:t>mage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token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，加入</a:t>
            </a:r>
            <a:r>
              <a:rPr lang="en-US" sz="2400" b="0" dirty="0" err="1">
                <a:solidFill>
                  <a:srgbClr val="FF0000"/>
                </a:solidFill>
                <a:latin typeface="Microsoft YaHei"/>
              </a:rPr>
              <a:t>camera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token</a:t>
            </a:r>
          </a:p>
        </p:txBody>
      </p:sp>
      <p:sp>
        <p:nvSpPr>
          <p:cNvPr id="96" name="Oval 95"/>
          <p:cNvSpPr/>
          <p:nvPr/>
        </p:nvSpPr>
        <p:spPr>
          <a:xfrm>
            <a:off x="1135380" y="5224272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336548" y="5141976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>
                <a:solidFill>
                  <a:srgbClr val="232A32"/>
                </a:solidFill>
                <a:latin typeface="Microsoft YaHei"/>
              </a:rPr>
              <a:t>Transformer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在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帧内注意力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全局注意力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之间交替，融合多视图信息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1135380" y="571042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336548" y="5628132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不同预测头分别输出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相机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、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深度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、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点图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用于跟踪的密集特征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E06829-C357-BDEE-DF5A-307452027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244" y="1294556"/>
            <a:ext cx="8464296" cy="3119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11352" y="1071372"/>
            <a:ext cx="8889492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输入输出定义：一个函数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同时学习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相机、深度、点图与轨迹特征</a:t>
            </a:r>
            <a:endParaRPr sz="2400" b="1" dirty="0">
              <a:solidFill>
                <a:srgbClr val="002D58"/>
              </a:solidFill>
              <a:latin typeface="Microsoft YaHei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815340" y="1744980"/>
            <a:ext cx="10287000" cy="68580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400" b="1" dirty="0" err="1">
                <a:solidFill>
                  <a:srgbClr val="FF0000"/>
                </a:solidFill>
                <a:latin typeface="Microsoft YaHei"/>
              </a:rPr>
              <a:t>多视图图像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I₁...Iₙ  →  { 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相机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gᵢ，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深度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Dᵢ，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点图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P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ᵢ，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轨迹特征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T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ᵢ }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011680" y="3314700"/>
            <a:ext cx="169164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663440" y="3314700"/>
            <a:ext cx="169164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315200" y="3314700"/>
            <a:ext cx="169164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822960" y="2674620"/>
            <a:ext cx="2057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32A32"/>
                </a:solidFill>
                <a:latin typeface="Microsoft YaHei"/>
              </a:rPr>
              <a:t>gᵢ
相机参数
旋转 q、平移 t、视场 f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474720" y="2674620"/>
            <a:ext cx="2057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 dirty="0">
                <a:solidFill>
                  <a:srgbClr val="232A32"/>
                </a:solidFill>
                <a:latin typeface="Microsoft YaHei"/>
              </a:rPr>
              <a:t>Dᵢ
</a:t>
            </a:r>
            <a:r>
              <a:rPr sz="1500" b="1" dirty="0" err="1">
                <a:solidFill>
                  <a:srgbClr val="232A32"/>
                </a:solidFill>
                <a:latin typeface="Microsoft YaHei"/>
              </a:rPr>
              <a:t>深度图</a:t>
            </a:r>
            <a:r>
              <a:rPr sz="1500" b="1" dirty="0">
                <a:solidFill>
                  <a:srgbClr val="232A32"/>
                </a:solidFill>
                <a:latin typeface="Microsoft YaHei"/>
              </a:rPr>
              <a:t>
</a:t>
            </a:r>
            <a:r>
              <a:rPr sz="1500" b="1" dirty="0" err="1">
                <a:solidFill>
                  <a:srgbClr val="232A32"/>
                </a:solidFill>
                <a:latin typeface="Microsoft YaHei"/>
              </a:rPr>
              <a:t>每个像素到相机的深度</a:t>
            </a:r>
            <a:endParaRPr sz="1500" b="1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6126480" y="2674620"/>
            <a:ext cx="2057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32A32"/>
                </a:solidFill>
                <a:latin typeface="Microsoft YaHei"/>
              </a:rPr>
              <a:t>Pᵢ
点图
像素对应的 3D 场景点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78240" y="2674620"/>
            <a:ext cx="20574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500" b="1">
                <a:solidFill>
                  <a:srgbClr val="232A32"/>
                </a:solidFill>
                <a:latin typeface="Microsoft YaHei"/>
              </a:rPr>
              <a:t>Tᵢ
跟踪特征
用于预测跨图像点轨迹</a:t>
            </a:r>
          </a:p>
        </p:txBody>
      </p:sp>
      <p:sp>
        <p:nvSpPr>
          <p:cNvPr id="101" name="Oval 100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024128" y="4343400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第一张图像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作为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世界参考系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，第一帧相机外参固定为单位旋转和零平移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822960" y="49027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24128" y="4812792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点图是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viewpoint-invariant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：不同图像的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3D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点统一到第一相机坐标系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822960" y="5425439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24128" y="5343143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输入图像顺序基本任意，除第一帧被指定为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参考帧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97052" y="1222649"/>
            <a:ext cx="859840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核心结构：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Alternating-Attention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平衡单帧理解与跨帧融合</a:t>
            </a:r>
            <a:endParaRPr sz="2400" b="1" dirty="0">
              <a:solidFill>
                <a:srgbClr val="002D58"/>
              </a:solidFill>
              <a:latin typeface="Microsoft YaHei"/>
            </a:endParaRPr>
          </a:p>
        </p:txBody>
      </p:sp>
      <p:cxnSp>
        <p:nvCxnSpPr>
          <p:cNvPr id="93" name="Connector 92"/>
          <p:cNvCxnSpPr/>
          <p:nvPr/>
        </p:nvCxnSpPr>
        <p:spPr>
          <a:xfrm>
            <a:off x="2651760" y="2578608"/>
            <a:ext cx="114300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349240" y="2578608"/>
            <a:ext cx="114300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046720" y="2578608"/>
            <a:ext cx="1143000" cy="0"/>
          </a:xfrm>
          <a:prstGeom prst="line">
            <a:avLst/>
          </a:prstGeom>
          <a:ln w="25400">
            <a:solidFill>
              <a:srgbClr val="CAB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777240" y="2057400"/>
            <a:ext cx="1874519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 dirty="0">
                <a:solidFill>
                  <a:srgbClr val="FF0000"/>
                </a:solidFill>
                <a:latin typeface="Microsoft YaHei"/>
              </a:rPr>
              <a:t>DINO</a:t>
            </a:r>
            <a:r>
              <a:rPr sz="1700" b="1" dirty="0">
                <a:solidFill>
                  <a:srgbClr val="232A32"/>
                </a:solidFill>
                <a:latin typeface="Microsoft YaHei"/>
              </a:rPr>
              <a:t>
Patch Tokens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703320" y="2057400"/>
            <a:ext cx="1737360" cy="1005840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 dirty="0">
                <a:solidFill>
                  <a:srgbClr val="FF0000"/>
                </a:solidFill>
                <a:latin typeface="Microsoft YaHei"/>
              </a:rPr>
              <a:t>Frame-wise</a:t>
            </a:r>
            <a:r>
              <a:rPr sz="1700" b="1" dirty="0">
                <a:solidFill>
                  <a:srgbClr val="232A32"/>
                </a:solidFill>
                <a:latin typeface="Microsoft YaHei"/>
              </a:rPr>
              <a:t>
Self-Attention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400800" y="2057400"/>
            <a:ext cx="1737360" cy="100584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 dirty="0">
                <a:solidFill>
                  <a:srgbClr val="FF0000"/>
                </a:solidFill>
                <a:latin typeface="Microsoft YaHei"/>
              </a:rPr>
              <a:t>Global</a:t>
            </a:r>
            <a:r>
              <a:rPr sz="1700" b="1" dirty="0">
                <a:solidFill>
                  <a:srgbClr val="232A32"/>
                </a:solidFill>
                <a:latin typeface="Microsoft YaHei"/>
              </a:rPr>
              <a:t>
Self-Attention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89720" y="2057400"/>
            <a:ext cx="16002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B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700" b="1">
                <a:solidFill>
                  <a:srgbClr val="232A32"/>
                </a:solidFill>
                <a:latin typeface="Microsoft YaHei"/>
              </a:rPr>
              <a:t>Repeat L=24
layers</a:t>
            </a:r>
          </a:p>
        </p:txBody>
      </p:sp>
      <p:sp>
        <p:nvSpPr>
          <p:cNvPr id="100" name="Oval 99"/>
          <p:cNvSpPr/>
          <p:nvPr/>
        </p:nvSpPr>
        <p:spPr>
          <a:xfrm>
            <a:off x="982980" y="357987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184148" y="3497580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帧内注意力：每张图像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内部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token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交互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，保持局部图像结构稳定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982980" y="4126992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3" name="TextBox 102"/>
          <p:cNvSpPr txBox="1"/>
          <p:nvPr/>
        </p:nvSpPr>
        <p:spPr>
          <a:xfrm>
            <a:off x="1184148" y="4044696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全局注意力：所有图像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token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联合交互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，学习跨视角几何关系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982980" y="46741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5" name="TextBox 104"/>
          <p:cNvSpPr txBox="1"/>
          <p:nvPr/>
        </p:nvSpPr>
        <p:spPr>
          <a:xfrm>
            <a:off x="1184148" y="4591812"/>
            <a:ext cx="964692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不使用专门的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3D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几何层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或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cross-attention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，结构更接近通用大模型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51560" y="5303520"/>
            <a:ext cx="9418320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AB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 dirty="0" err="1">
                <a:solidFill>
                  <a:srgbClr val="232A32"/>
                </a:solidFill>
                <a:latin typeface="Microsoft YaHei"/>
              </a:rPr>
              <a:t>设计思想：</a:t>
            </a:r>
            <a:r>
              <a:rPr sz="2000" b="1" dirty="0" err="1">
                <a:solidFill>
                  <a:srgbClr val="FF0000"/>
                </a:solidFill>
                <a:latin typeface="Microsoft YaHei"/>
              </a:rPr>
              <a:t>少做人工</a:t>
            </a:r>
            <a:r>
              <a:rPr sz="2000" b="1" dirty="0">
                <a:solidFill>
                  <a:srgbClr val="FF0000"/>
                </a:solidFill>
                <a:latin typeface="Microsoft YaHei"/>
              </a:rPr>
              <a:t> 3D </a:t>
            </a:r>
            <a:r>
              <a:rPr sz="2000" b="1" dirty="0" err="1">
                <a:solidFill>
                  <a:srgbClr val="FF0000"/>
                </a:solidFill>
                <a:latin typeface="Microsoft YaHei"/>
              </a:rPr>
              <a:t>偏置</a:t>
            </a:r>
            <a:r>
              <a:rPr sz="2000" b="1" dirty="0" err="1">
                <a:solidFill>
                  <a:srgbClr val="232A32"/>
                </a:solidFill>
                <a:latin typeface="Microsoft YaHei"/>
              </a:rPr>
              <a:t>，让数据驱动模型学习几何规律</a:t>
            </a:r>
            <a:endParaRPr sz="2000" b="1" dirty="0">
              <a:solidFill>
                <a:srgbClr val="232A32"/>
              </a:solidFill>
              <a:latin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研究思路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47472" y="850392"/>
            <a:ext cx="864108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多任务学习：让相关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3D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属性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共同监督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，提高几何理解能力</a:t>
            </a:r>
            <a:endParaRPr sz="2400" b="1" dirty="0">
              <a:solidFill>
                <a:srgbClr val="002D58"/>
              </a:solidFill>
              <a:latin typeface="Microsoft YaHei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685800" y="160629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86968" y="1524000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相机、深度、点图之间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存在几何关系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，但训练时全部显式预测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685800" y="238048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86968" y="2298192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这些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“冗余预测”提供更丰富监督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，促进共享骨干学习统一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3D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表征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685800" y="3192780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3110484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推理时从“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深度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 +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相机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”反投影得到点云，反而比直接点图头更准确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graphicFrame>
        <p:nvGraphicFramePr>
          <p:cNvPr id="99" name="Table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338366"/>
              </p:ext>
            </p:extLst>
          </p:nvPr>
        </p:nvGraphicFramePr>
        <p:xfrm>
          <a:off x="6957060" y="1341120"/>
          <a:ext cx="4206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训练配置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Overall↓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 dirty="0" err="1">
                          <a:solidFill>
                            <a:srgbClr val="232A32"/>
                          </a:solidFill>
                          <a:latin typeface="Microsoft YaHei"/>
                        </a:rPr>
                        <a:t>无相机损失</a:t>
                      </a:r>
                      <a:endParaRPr sz="1500" dirty="0">
                        <a:solidFill>
                          <a:srgbClr val="232A32"/>
                        </a:solidFill>
                        <a:latin typeface="Microsoft YaHei"/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0.834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无深度损失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0.727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无跟踪损失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0.790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A32"/>
                          </a:solidFill>
                          <a:latin typeface="Microsoft YaHei"/>
                        </a:rPr>
                        <a:t>完整多任务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>
                          <a:solidFill>
                            <a:srgbClr val="232A32"/>
                          </a:solidFill>
                          <a:latin typeface="Microsoft YaHei"/>
                        </a:rPr>
                        <a:t>0.709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" name="Rounded Rectangle 99"/>
          <p:cNvSpPr/>
          <p:nvPr/>
        </p:nvSpPr>
        <p:spPr>
          <a:xfrm>
            <a:off x="2727960" y="4053839"/>
            <a:ext cx="2011680" cy="9144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>
                <a:solidFill>
                  <a:srgbClr val="ED7D31"/>
                </a:solidFill>
                <a:latin typeface="Arial"/>
              </a:rPr>
              <a:t>0.709</a:t>
            </a: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直接点图头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  <a:p>
            <a:pPr algn="ctr"/>
            <a:r>
              <a:rPr sz="1050" dirty="0">
                <a:solidFill>
                  <a:srgbClr val="5B6370"/>
                </a:solidFill>
                <a:latin typeface="Microsoft YaHei"/>
              </a:rPr>
              <a:t>Overall↓</a:t>
            </a:r>
          </a:p>
        </p:txBody>
      </p:sp>
      <p:cxnSp>
        <p:nvCxnSpPr>
          <p:cNvPr id="101" name="Connector 100"/>
          <p:cNvCxnSpPr>
            <a:cxnSpLocks/>
            <a:stCxn id="100" idx="3"/>
            <a:endCxn id="102" idx="1"/>
          </p:cNvCxnSpPr>
          <p:nvPr/>
        </p:nvCxnSpPr>
        <p:spPr>
          <a:xfrm>
            <a:off x="4739640" y="4511039"/>
            <a:ext cx="233172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7071360" y="4053839"/>
            <a:ext cx="2011680" cy="914400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>
                <a:solidFill>
                  <a:srgbClr val="ED7D31"/>
                </a:solidFill>
                <a:latin typeface="Arial"/>
              </a:rPr>
              <a:t>0.677</a:t>
            </a:r>
          </a:p>
          <a:p>
            <a:pPr algn="ctr"/>
            <a:r>
              <a:rPr sz="1300" b="1">
                <a:solidFill>
                  <a:srgbClr val="232A32"/>
                </a:solidFill>
                <a:latin typeface="Microsoft YaHei"/>
              </a:rPr>
              <a:t>深度 + 相机</a:t>
            </a:r>
          </a:p>
          <a:p>
            <a:pPr algn="ctr"/>
            <a:r>
              <a:rPr sz="1050">
                <a:solidFill>
                  <a:srgbClr val="5B6370"/>
                </a:solidFill>
                <a:latin typeface="Microsoft YaHei"/>
              </a:rPr>
              <a:t>更优的点云结果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234440" y="5257800"/>
            <a:ext cx="9692640" cy="502920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232A32"/>
                </a:solidFill>
                <a:latin typeface="Microsoft YaHei"/>
              </a:rPr>
              <a:t>结论：多任务训练 + 推理阶段合理组合，是 VGGT 精度提升的关键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316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研究结果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21792" y="949452"/>
            <a:ext cx="909370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多视图深度估计：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未知相机条件下大幅超过</a:t>
            </a:r>
            <a:r>
              <a:rPr sz="2400" b="1" dirty="0">
                <a:solidFill>
                  <a:srgbClr val="FF0000"/>
                </a:solidFill>
                <a:latin typeface="Microsoft YaHei"/>
              </a:rPr>
              <a:t> DUSt3R</a:t>
            </a:r>
          </a:p>
        </p:txBody>
      </p:sp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161282"/>
              </p:ext>
            </p:extLst>
          </p:nvPr>
        </p:nvGraphicFramePr>
        <p:xfrm>
          <a:off x="708660" y="159258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是否使用GT相机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Microsoft YaHei"/>
                        </a:rPr>
                        <a:t>Acc.↓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Comp.↓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0000"/>
                          </a:solidFill>
                          <a:latin typeface="Microsoft YaHei"/>
                        </a:rPr>
                        <a:t>Overall↓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DUSt3R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2.677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0.805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1.741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D7D31"/>
                          </a:solidFill>
                          <a:latin typeface="Microsoft YaHei"/>
                        </a:rPr>
                        <a:t>Ours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32A32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0.389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0.374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0.382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MASt3R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32A32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0.403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0.344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0.374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GeoMVSNet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32A32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0.331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0.259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232A32"/>
                          </a:solidFill>
                          <a:latin typeface="Microsoft YaHei"/>
                        </a:rPr>
                        <a:t>0.295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ounded Rectangle 93"/>
          <p:cNvSpPr/>
          <p:nvPr/>
        </p:nvSpPr>
        <p:spPr>
          <a:xfrm>
            <a:off x="7947660" y="2400300"/>
            <a:ext cx="3383280" cy="1188720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200" b="1">
                <a:solidFill>
                  <a:srgbClr val="ED7D31"/>
                </a:solidFill>
                <a:latin typeface="Microsoft YaHei"/>
              </a:rPr>
              <a:t>DTU Overall：
DUSt3R 1.741 → VGGT 0.382</a:t>
            </a:r>
          </a:p>
        </p:txBody>
      </p:sp>
      <p:sp>
        <p:nvSpPr>
          <p:cNvPr id="95" name="Oval 94"/>
          <p:cNvSpPr/>
          <p:nvPr/>
        </p:nvSpPr>
        <p:spPr>
          <a:xfrm>
            <a:off x="777240" y="437235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78408" y="4290059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>
                <a:solidFill>
                  <a:srgbClr val="232A32"/>
                </a:solidFill>
                <a:latin typeface="Microsoft YaHei"/>
              </a:rPr>
              <a:t>VGGT 和 DUSt3R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都不使用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测试时的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GT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相机参数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69620" y="4911852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70788" y="4829556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>
                <a:solidFill>
                  <a:srgbClr val="232A32"/>
                </a:solidFill>
                <a:latin typeface="Microsoft YaHei"/>
              </a:rPr>
              <a:t>VGGT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的结果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接近使用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已知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相机参数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的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MVS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方法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62000" y="54742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63168" y="5391912"/>
            <a:ext cx="1001268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原因：多图训练让模型在网络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内部学习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多视图三角化，而非事后拼接双视图结果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研究结果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347472" y="850392"/>
            <a:ext cx="873556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点图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/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点云估计：更快、更准，并验证</a:t>
            </a:r>
            <a:r>
              <a:rPr sz="2400" b="1" dirty="0" err="1">
                <a:solidFill>
                  <a:srgbClr val="FF0000"/>
                </a:solidFill>
                <a:latin typeface="Microsoft YaHei"/>
              </a:rPr>
              <a:t>“深度+相机”组合更优</a:t>
            </a:r>
            <a:endParaRPr sz="2400" b="1" dirty="0">
              <a:solidFill>
                <a:srgbClr val="FF0000"/>
              </a:solidFill>
              <a:latin typeface="Microsoft YaHei"/>
            </a:endParaRPr>
          </a:p>
        </p:txBody>
      </p:sp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7480"/>
              </p:ext>
            </p:extLst>
          </p:nvPr>
        </p:nvGraphicFramePr>
        <p:xfrm>
          <a:off x="495300" y="1356360"/>
          <a:ext cx="6400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Acc.↓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Comp.↓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0000"/>
                          </a:solidFill>
                          <a:latin typeface="Microsoft YaHei"/>
                        </a:rPr>
                        <a:t>Overall↓</a:t>
                      </a: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0000"/>
                          </a:solidFill>
                          <a:latin typeface="Microsoft YaHei"/>
                        </a:rPr>
                        <a:t>时间</a:t>
                      </a:r>
                      <a:endParaRPr sz="1400" b="1" dirty="0">
                        <a:solidFill>
                          <a:srgbClr val="FF0000"/>
                        </a:solidFill>
                        <a:latin typeface="Microsoft YaHei"/>
                      </a:endParaRPr>
                    </a:p>
                  </a:txBody>
                  <a:tcPr marL="36576" marR="36576" marT="18288" marB="18288" anchor="ctr">
                    <a:solidFill>
                      <a:srgbClr val="002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DUSt3R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1.167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0.842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1.005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~7s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MASt3R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0.968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0.684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0.826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~9s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D7D31"/>
                          </a:solidFill>
                          <a:latin typeface="Microsoft YaHei"/>
                        </a:rPr>
                        <a:t>Ours (Point)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0.901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0.518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0.709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~0.2s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D7D31"/>
                          </a:solidFill>
                          <a:latin typeface="Microsoft YaHei"/>
                        </a:rPr>
                        <a:t>Ours (Depth+Cam)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0.873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A32"/>
                          </a:solidFill>
                          <a:latin typeface="Microsoft YaHei"/>
                        </a:rPr>
                        <a:t>0.482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0.677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FF0000"/>
                          </a:solidFill>
                          <a:latin typeface="Microsoft YaHei"/>
                        </a:rPr>
                        <a:t>~0.2s</a:t>
                      </a:r>
                    </a:p>
                  </a:txBody>
                  <a:tcPr marL="36576" marR="36576" marT="18288" marB="1828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Rounded Rectangle 94"/>
          <p:cNvSpPr/>
          <p:nvPr/>
        </p:nvSpPr>
        <p:spPr>
          <a:xfrm>
            <a:off x="1798320" y="3977639"/>
            <a:ext cx="2011680" cy="914400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>
                <a:solidFill>
                  <a:srgbClr val="ED7D31"/>
                </a:solidFill>
                <a:latin typeface="Arial"/>
              </a:rPr>
              <a:t>约</a:t>
            </a:r>
            <a:r>
              <a:rPr lang="en-US" sz="2500" b="1" dirty="0">
                <a:solidFill>
                  <a:srgbClr val="ED7D31"/>
                </a:solidFill>
                <a:latin typeface="Arial"/>
              </a:rPr>
              <a:t>0.3</a:t>
            </a:r>
            <a:endParaRPr sz="2500" b="1" dirty="0">
              <a:solidFill>
                <a:srgbClr val="ED7D31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232A32"/>
                </a:solidFill>
                <a:latin typeface="Microsoft YaHei"/>
              </a:rPr>
              <a:t>比 DUSt3R</a:t>
            </a:r>
          </a:p>
          <a:p>
            <a:pPr algn="ctr"/>
            <a:r>
              <a:rPr sz="1050" dirty="0">
                <a:solidFill>
                  <a:srgbClr val="5B6370"/>
                </a:solidFill>
                <a:latin typeface="Microsoft YaHei"/>
              </a:rPr>
              <a:t>Overall </a:t>
            </a:r>
            <a:r>
              <a:rPr sz="1050" dirty="0" err="1">
                <a:solidFill>
                  <a:srgbClr val="5B6370"/>
                </a:solidFill>
                <a:latin typeface="Microsoft YaHei"/>
              </a:rPr>
              <a:t>降低</a:t>
            </a:r>
            <a:endParaRPr sz="1050" dirty="0">
              <a:solidFill>
                <a:srgbClr val="5B6370"/>
              </a:solidFill>
              <a:latin typeface="Microsoft YaHei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800600" y="3977639"/>
            <a:ext cx="2011680" cy="914400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>
                <a:solidFill>
                  <a:srgbClr val="ED7D31"/>
                </a:solidFill>
                <a:latin typeface="Arial"/>
              </a:rPr>
              <a:t>~0.2s</a:t>
            </a: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速度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  <a:p>
            <a:pPr algn="ctr"/>
            <a:r>
              <a:rPr sz="1050" dirty="0" err="1">
                <a:solidFill>
                  <a:srgbClr val="5B6370"/>
                </a:solidFill>
                <a:latin typeface="Microsoft YaHei"/>
              </a:rPr>
              <a:t>无全局对齐</a:t>
            </a:r>
            <a:endParaRPr sz="1050" dirty="0">
              <a:solidFill>
                <a:srgbClr val="5B6370"/>
              </a:solidFill>
              <a:latin typeface="Microsoft YaHei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7894320" y="3977639"/>
            <a:ext cx="2307578" cy="914400"/>
          </a:xfrm>
          <a:prstGeom prst="roundRect">
            <a:avLst/>
          </a:prstGeom>
          <a:solidFill>
            <a:srgbClr val="FCEC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54864" rtlCol="0" anchor="ctr"/>
          <a:lstStyle/>
          <a:p>
            <a:pPr algn="ctr"/>
            <a:r>
              <a:rPr sz="2500" b="1" dirty="0" err="1">
                <a:solidFill>
                  <a:srgbClr val="ED7D31"/>
                </a:solidFill>
                <a:latin typeface="Arial"/>
              </a:rPr>
              <a:t>Depth+Cam</a:t>
            </a:r>
            <a:endParaRPr sz="2500" b="1" dirty="0">
              <a:solidFill>
                <a:srgbClr val="ED7D31"/>
              </a:solidFill>
              <a:latin typeface="Arial"/>
            </a:endParaRPr>
          </a:p>
          <a:p>
            <a:pPr algn="ctr"/>
            <a:r>
              <a:rPr sz="1300" b="1" dirty="0" err="1">
                <a:solidFill>
                  <a:srgbClr val="232A32"/>
                </a:solidFill>
                <a:latin typeface="Microsoft YaHei"/>
              </a:rPr>
              <a:t>点云构造</a:t>
            </a:r>
            <a:endParaRPr sz="1300" b="1" dirty="0">
              <a:solidFill>
                <a:srgbClr val="232A32"/>
              </a:solidFill>
              <a:latin typeface="Microsoft YaHei"/>
            </a:endParaRPr>
          </a:p>
          <a:p>
            <a:pPr algn="ctr"/>
            <a:r>
              <a:rPr sz="1050" dirty="0" err="1">
                <a:solidFill>
                  <a:srgbClr val="5B6370"/>
                </a:solidFill>
                <a:latin typeface="Microsoft YaHei"/>
              </a:rPr>
              <a:t>优于直接点图</a:t>
            </a:r>
            <a:endParaRPr sz="1050" dirty="0">
              <a:solidFill>
                <a:srgbClr val="5B6370"/>
              </a:solidFill>
              <a:latin typeface="Microsoft YaHei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1325880" y="5257800"/>
            <a:ext cx="9966960" cy="5029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AB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900" b="1">
                <a:solidFill>
                  <a:srgbClr val="232A32"/>
                </a:solidFill>
                <a:latin typeface="Microsoft YaHei"/>
              </a:rPr>
              <a:t>定性结果显示：油画、无重叠视图、重复纹理等困难场景下仍有较好泛化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18FF9E-7771-F6AA-B830-B6C712AC2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9598" y="1339738"/>
            <a:ext cx="5022862" cy="2500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2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研究结论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67512" y="949452"/>
            <a:ext cx="913942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论文结论：VGGT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证明了“神经优先”的</a:t>
            </a:r>
            <a:r>
              <a:rPr sz="2400" b="1" dirty="0">
                <a:solidFill>
                  <a:srgbClr val="002D58"/>
                </a:solidFill>
                <a:latin typeface="Microsoft YaHei"/>
              </a:rPr>
              <a:t> 3D </a:t>
            </a:r>
            <a:r>
              <a:rPr sz="2400" b="1" dirty="0" err="1">
                <a:solidFill>
                  <a:srgbClr val="002D58"/>
                </a:solidFill>
                <a:latin typeface="Microsoft YaHei"/>
              </a:rPr>
              <a:t>重建路线可行</a:t>
            </a:r>
            <a:endParaRPr sz="2400" b="1" dirty="0">
              <a:solidFill>
                <a:srgbClr val="002D58"/>
              </a:solidFill>
              <a:latin typeface="Microsoft YaHei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31520" y="174345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32688" y="1661160"/>
            <a:ext cx="6720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统一性：一个大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Transformer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同时预测相机、深度、点图和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 3D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点轨迹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31520" y="260451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32688" y="2522220"/>
            <a:ext cx="6720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效率：在多数实验中，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纯前馈模式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约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0.2s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即可输出可用结果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31520" y="347319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32688" y="3390900"/>
            <a:ext cx="6720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精度：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无需后处理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已超过多种优化式方法，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结合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 BA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后进一步达到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 SOTA</a:t>
            </a:r>
          </a:p>
        </p:txBody>
      </p:sp>
      <p:sp>
        <p:nvSpPr>
          <p:cNvPr id="99" name="Oval 98"/>
          <p:cNvSpPr/>
          <p:nvPr/>
        </p:nvSpPr>
        <p:spPr>
          <a:xfrm>
            <a:off x="731520" y="4341876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32688" y="4259580"/>
            <a:ext cx="67208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迁移性：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预训练特征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可提升新视角合成和动态点跟踪等下游任务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8549640" y="1394460"/>
            <a:ext cx="2286000" cy="502920"/>
          </a:xfrm>
          <a:prstGeom prst="roundRect">
            <a:avLst/>
          </a:prstGeom>
          <a:solidFill>
            <a:srgbClr val="002D58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核心创新点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92440" y="2049780"/>
            <a:ext cx="3200400" cy="74980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232A32"/>
                </a:solidFill>
                <a:latin typeface="Microsoft YaHei"/>
              </a:rPr>
              <a:t>多视图
一次前向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92440" y="3055620"/>
            <a:ext cx="3200400" cy="74980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232A32"/>
                </a:solidFill>
                <a:latin typeface="Microsoft YaHei"/>
              </a:rPr>
              <a:t>多任务
共享骨干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2440" y="4061460"/>
            <a:ext cx="3200400" cy="749808"/>
          </a:xfrm>
          <a:prstGeom prst="roundRect">
            <a:avLst/>
          </a:prstGeom>
          <a:solidFill>
            <a:srgbClr val="E2EEFA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232A32"/>
                </a:solidFill>
                <a:latin typeface="Microsoft YaHei"/>
              </a:rPr>
              <a:t>少 3D 偏置
数据驱动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51560" y="5204324"/>
            <a:ext cx="9966960" cy="724036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r>
              <a:rPr sz="1900" b="1" dirty="0" err="1">
                <a:solidFill>
                  <a:srgbClr val="232A32"/>
                </a:solidFill>
                <a:latin typeface="Microsoft YaHei"/>
              </a:rPr>
              <a:t>从方法论看：VGGT</a:t>
            </a:r>
            <a:r>
              <a:rPr sz="1900" b="1" dirty="0">
                <a:solidFill>
                  <a:srgbClr val="232A32"/>
                </a:solidFill>
                <a:latin typeface="Microsoft YaHei"/>
              </a:rPr>
              <a:t> 把 3D </a:t>
            </a:r>
            <a:r>
              <a:rPr sz="1900" b="1" dirty="0" err="1">
                <a:solidFill>
                  <a:srgbClr val="232A32"/>
                </a:solidFill>
                <a:latin typeface="Microsoft YaHei"/>
              </a:rPr>
              <a:t>视觉从“几何优化管线”推进到“基础模型</a:t>
            </a:r>
            <a:r>
              <a:rPr sz="1900" b="1" dirty="0">
                <a:solidFill>
                  <a:srgbClr val="232A32"/>
                </a:solidFill>
                <a:latin typeface="Microsoft YaHei"/>
              </a:rPr>
              <a:t> + </a:t>
            </a:r>
            <a:r>
              <a:rPr sz="1900" b="1" dirty="0" err="1">
                <a:solidFill>
                  <a:srgbClr val="232A32"/>
                </a:solidFill>
                <a:latin typeface="Microsoft YaHei"/>
              </a:rPr>
              <a:t>可选优化”的范式</a:t>
            </a:r>
            <a:r>
              <a:rPr sz="1900" b="1" dirty="0">
                <a:solidFill>
                  <a:srgbClr val="232A32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3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>
                <a:solidFill>
                  <a:srgbClr val="ED7D31"/>
                </a:solidFill>
                <a:latin typeface="Microsoft YaHei"/>
              </a:rPr>
              <a:t>研究结论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5612" y="850392"/>
            <a:ext cx="9147048" cy="320040"/>
          </a:xfrm>
          <a:prstGeom prst="rect">
            <a:avLst/>
          </a:prstGeom>
          <a:noFill/>
        </p:spPr>
        <p:txBody>
          <a:bodyPr wrap="square" lIns="54864" tIns="54864" rIns="54864" bIns="54864">
            <a:noAutofit/>
          </a:bodyPr>
          <a:lstStyle/>
          <a:p>
            <a:r>
              <a:rPr sz="2400" b="1" dirty="0" err="1">
                <a:solidFill>
                  <a:srgbClr val="002D58"/>
                </a:solidFill>
                <a:latin typeface="Microsoft YaHei"/>
              </a:rPr>
              <a:t>个人理解：优势、局限与后续关注点</a:t>
            </a:r>
            <a:endParaRPr sz="2400" b="1" dirty="0">
              <a:solidFill>
                <a:srgbClr val="002D58"/>
              </a:solidFill>
              <a:latin typeface="Microsoft YaHei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90600" y="1455420"/>
            <a:ext cx="2194560" cy="457200"/>
          </a:xfrm>
          <a:prstGeom prst="roundRect">
            <a:avLst/>
          </a:prstGeom>
          <a:solidFill>
            <a:srgbClr val="002D58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优势</a:t>
            </a:r>
            <a:endParaRPr sz="2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7240" y="217017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78408" y="208787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速度快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，适合实时或交互式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3D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应用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77240" y="297789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78408" y="289559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统一多任务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，减少多个模型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/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流程拼接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77240" y="383895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78408" y="375665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特征具有迁移潜力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4922520" y="1409700"/>
            <a:ext cx="2194560" cy="457200"/>
          </a:xfrm>
          <a:prstGeom prst="roundRect">
            <a:avLst/>
          </a:prstGeom>
          <a:solidFill>
            <a:srgbClr val="002D58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Microsoft YaHei"/>
              </a:rPr>
              <a:t>局限</a:t>
            </a:r>
            <a:endParaRPr sz="20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4434840" y="201777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636007" y="193547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主要假设输入为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同一静态场景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4434840" y="277977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636007" y="269747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依赖大量</a:t>
            </a:r>
            <a:r>
              <a:rPr sz="2400" b="0" dirty="0">
                <a:solidFill>
                  <a:srgbClr val="FF0000"/>
                </a:solidFill>
                <a:latin typeface="Microsoft YaHei"/>
              </a:rPr>
              <a:t> 3D </a:t>
            </a:r>
            <a:r>
              <a:rPr sz="2400" b="0" dirty="0" err="1">
                <a:solidFill>
                  <a:srgbClr val="FF0000"/>
                </a:solidFill>
                <a:latin typeface="Microsoft YaHei"/>
              </a:rPr>
              <a:t>标注数据和大模型训练</a:t>
            </a:r>
            <a:endParaRPr sz="2400" b="0" dirty="0">
              <a:solidFill>
                <a:srgbClr val="FF0000"/>
              </a:solidFill>
              <a:latin typeface="Microsoft YaHei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4434840" y="358749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636007" y="350519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第一帧参考系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选择会影响表达方式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534400" y="1386840"/>
            <a:ext cx="2194560" cy="457200"/>
          </a:xfrm>
          <a:prstGeom prst="roundRect">
            <a:avLst/>
          </a:prstGeom>
          <a:solidFill>
            <a:srgbClr val="002D58"/>
          </a:solidFill>
          <a:ln w="15240">
            <a:solidFill>
              <a:srgbClr val="00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关注点</a:t>
            </a:r>
          </a:p>
        </p:txBody>
      </p:sp>
      <p:sp>
        <p:nvSpPr>
          <p:cNvPr id="108" name="Oval 107"/>
          <p:cNvSpPr/>
          <p:nvPr/>
        </p:nvSpPr>
        <p:spPr>
          <a:xfrm>
            <a:off x="8092440" y="203301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93608" y="195071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sz="2400" b="0" dirty="0" err="1">
                <a:solidFill>
                  <a:srgbClr val="FF0000"/>
                </a:solidFill>
                <a:latin typeface="Microsoft YaHei"/>
              </a:rPr>
              <a:t>动态场景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的直接建模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092440" y="255879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93608" y="247649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更大规模数据与模型的扩展规律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8092440" y="3435095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93608" y="3352799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2400" b="0" dirty="0" err="1">
                <a:solidFill>
                  <a:srgbClr val="232A32"/>
                </a:solidFill>
                <a:latin typeface="Microsoft YaHei"/>
              </a:rPr>
              <a:t>与传统</a:t>
            </a:r>
            <a:r>
              <a:rPr sz="2400" b="0" dirty="0">
                <a:solidFill>
                  <a:srgbClr val="232A32"/>
                </a:solidFill>
                <a:latin typeface="Microsoft YaHei"/>
              </a:rPr>
              <a:t> BA / SLAM </a:t>
            </a:r>
            <a:r>
              <a:rPr sz="2400" b="0" dirty="0" err="1">
                <a:solidFill>
                  <a:srgbClr val="232A32"/>
                </a:solidFill>
                <a:latin typeface="Microsoft YaHei"/>
              </a:rPr>
              <a:t>系统的结合</a:t>
            </a:r>
            <a:endParaRPr sz="2400" b="0" dirty="0">
              <a:solidFill>
                <a:srgbClr val="232A32"/>
              </a:solidFill>
              <a:latin typeface="Microsoft YaHei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914400" y="4785360"/>
            <a:ext cx="10241280" cy="914400"/>
          </a:xfrm>
          <a:prstGeom prst="roundRect">
            <a:avLst/>
          </a:prstGeom>
          <a:solidFill>
            <a:srgbClr val="FCEC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r>
              <a:rPr sz="2200" b="1" dirty="0" err="1">
                <a:solidFill>
                  <a:srgbClr val="232A32"/>
                </a:solidFill>
                <a:latin typeface="Microsoft YaHei"/>
              </a:rPr>
              <a:t>总结：VGGT</a:t>
            </a:r>
            <a:r>
              <a:rPr sz="2200" b="1" dirty="0">
                <a:solidFill>
                  <a:srgbClr val="232A32"/>
                </a:solidFill>
                <a:latin typeface="Microsoft YaHei"/>
              </a:rPr>
              <a:t> </a:t>
            </a:r>
            <a:r>
              <a:rPr sz="2200" b="1" dirty="0" err="1">
                <a:solidFill>
                  <a:srgbClr val="232A32"/>
                </a:solidFill>
                <a:latin typeface="Microsoft YaHei"/>
              </a:rPr>
              <a:t>的价值在于把多个</a:t>
            </a:r>
            <a:r>
              <a:rPr sz="2200" b="1" dirty="0">
                <a:solidFill>
                  <a:srgbClr val="232A32"/>
                </a:solidFill>
                <a:latin typeface="Microsoft YaHei"/>
              </a:rPr>
              <a:t> 3D </a:t>
            </a:r>
            <a:r>
              <a:rPr sz="2200" b="1" dirty="0" err="1">
                <a:solidFill>
                  <a:srgbClr val="232A32"/>
                </a:solidFill>
                <a:latin typeface="Microsoft YaHei"/>
              </a:rPr>
              <a:t>视觉子任务统一成一个可端到端学习、可快速推理、可迁移复用的基础模型</a:t>
            </a:r>
            <a:r>
              <a:rPr sz="2200" b="1" dirty="0">
                <a:solidFill>
                  <a:srgbClr val="232A32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545" y="581892"/>
            <a:ext cx="11170227" cy="5777345"/>
          </a:xfrm>
          <a:prstGeom prst="rect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75" name="直线连接符 4"/>
          <p:cNvCxnSpPr/>
          <p:nvPr/>
        </p:nvCxnSpPr>
        <p:spPr>
          <a:xfrm>
            <a:off x="4571160" y="4189051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207"/>
          <p:cNvCxnSpPr/>
          <p:nvPr/>
        </p:nvCxnSpPr>
        <p:spPr>
          <a:xfrm>
            <a:off x="4571160" y="4664180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12"/>
          <p:cNvCxnSpPr/>
          <p:nvPr/>
        </p:nvCxnSpPr>
        <p:spPr>
          <a:xfrm>
            <a:off x="3985111" y="2420939"/>
            <a:ext cx="0" cy="22701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89" y="2059601"/>
            <a:ext cx="2857500" cy="2857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99331" y="2064226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1097" y="2402942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谢谢大家</a:t>
            </a:r>
            <a:endParaRPr kumimoji="1" lang="en-US" altLang="zh-CN" sz="9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898544" y="887168"/>
            <a:ext cx="2279311" cy="673670"/>
          </a:xfrm>
          <a:prstGeom prst="rect">
            <a:avLst/>
          </a:prstGeom>
        </p:spPr>
      </p:pic>
      <p:sp>
        <p:nvSpPr>
          <p:cNvPr id="16" name="副标题 2"/>
          <p:cNvSpPr txBox="1"/>
          <p:nvPr/>
        </p:nvSpPr>
        <p:spPr>
          <a:xfrm>
            <a:off x="2452443" y="5858895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3000509000000000000" pitchFamily="65" charset="-122"/>
                <a:ea typeface="方正小标宋简体" panose="03000509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3000509000000000000" pitchFamily="65" charset="-122"/>
              <a:ea typeface="方正小标宋简体" panose="03000509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724</Words>
  <Application>Microsoft Office PowerPoint</Application>
  <PresentationFormat>宽屏</PresentationFormat>
  <Paragraphs>204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-apple-system</vt:lpstr>
      <vt:lpstr>Microsoft YaHei Regular</vt:lpstr>
      <vt:lpstr>等线</vt:lpstr>
      <vt:lpstr>等线 Light</vt:lpstr>
      <vt:lpstr>方正小标宋简体</vt:lpstr>
      <vt:lpstr>微软雅黑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郑烨</dc:creator>
  <cp:lastModifiedBy>陈 昊</cp:lastModifiedBy>
  <cp:revision>57</cp:revision>
  <dcterms:created xsi:type="dcterms:W3CDTF">2024-04-23T07:30:00Z</dcterms:created>
  <dcterms:modified xsi:type="dcterms:W3CDTF">2026-06-16T09:03:03Z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C50236E8DA3D45E2A07B1E66017393FF_13</vt:lpwstr>
  </property>
  <property fmtid="{D5CDD505-2E9C-101B-9397-08002B2CF9AE}" pid="3" name="KSOProductBuildVer">
    <vt:lpwstr>2052-12.1.0.20305</vt:lpwstr>
  </property>
</Properties>
</file>